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8" r:id="rId4"/>
    <p:sldId id="271" r:id="rId5"/>
    <p:sldId id="261" r:id="rId6"/>
    <p:sldId id="272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4660"/>
  </p:normalViewPr>
  <p:slideViewPr>
    <p:cSldViewPr snapToGrid="0">
      <p:cViewPr varScale="1">
        <p:scale>
          <a:sx n="97" d="100"/>
          <a:sy n="97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0.%20&#1058;&#1077;&#1093;&#1085;&#1080;&#1095;&#1077;&#1089;&#1082;&#1086;&#1077;%20&#1079;&#1072;&#1076;&#1072;&#1085;&#1080;&#1077;%20&#1076;&#1083;&#1103;%20&#1072;&#1085;&#1072;&#1083;&#1080;&#1090;&#1080;&#1082;&#1072;%20-%20&#1072;&#1085;&#1072;&#1083;&#1080;&#1079;%20&#1090;&#1086;&#1088;&#1075;&#1086;&#1074;&#1099;&#1093;%20&#1090;&#1086;&#1095;&#1077;&#1082;\Transaction_list%20(&#1076;&#1086;&#1084;&#1072;&#1096;&#1085;&#1103;&#1103;%20&#1088;&#1072;&#1073;&#1086;&#1090;&#1072;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0.%20&#1058;&#1077;&#1093;&#1085;&#1080;&#1095;&#1077;&#1089;&#1082;&#1086;&#1077;%20&#1079;&#1072;&#1076;&#1072;&#1085;&#1080;&#1077;%20&#1076;&#1083;&#1103;%20&#1072;&#1085;&#1072;&#1083;&#1080;&#1090;&#1080;&#1082;&#1072;%20-%20&#1072;&#1085;&#1072;&#1083;&#1080;&#1079;%20&#1090;&#1086;&#1088;&#1075;&#1086;&#1074;&#1099;&#1093;%20&#1090;&#1086;&#1095;&#1077;&#1082;\Transaction_list%20(&#1076;&#1086;&#1084;&#1072;&#1096;&#1085;&#1103;&#1103;%20&#1088;&#1072;&#1073;&#1086;&#1090;&#1072;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0.%20&#1058;&#1077;&#1093;&#1085;&#1080;&#1095;&#1077;&#1089;&#1082;&#1086;&#1077;%20&#1079;&#1072;&#1076;&#1072;&#1085;&#1080;&#1077;%20&#1076;&#1083;&#1103;%20&#1072;&#1085;&#1072;&#1083;&#1080;&#1090;&#1080;&#1082;&#1072;%20-%20&#1072;&#1085;&#1072;&#1083;&#1080;&#1079;%20&#1090;&#1086;&#1088;&#1075;&#1086;&#1074;&#1099;&#1093;%20&#1090;&#1086;&#1095;&#1077;&#1082;\Transaction_list%20(&#1076;&#1086;&#1084;&#1072;&#1096;&#1085;&#1103;&#1103;%20&#1088;&#1072;&#1073;&#1086;&#1090;&#1072;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0.%20&#1058;&#1077;&#1093;&#1085;&#1080;&#1095;&#1077;&#1089;&#1082;&#1086;&#1077;%20&#1079;&#1072;&#1076;&#1072;&#1085;&#1080;&#1077;%20&#1076;&#1083;&#1103;%20&#1072;&#1085;&#1072;&#1083;&#1080;&#1090;&#1080;&#1082;&#1072;%20-%20&#1072;&#1085;&#1072;&#1083;&#1080;&#1079;%20&#1090;&#1086;&#1088;&#1075;&#1086;&#1074;&#1099;&#1093;%20&#1090;&#1086;&#1095;&#1077;&#1082;\Transaction_list%20(&#1076;&#1086;&#1084;&#1072;&#1096;&#1085;&#1103;&#1103;%20&#1088;&#1072;&#1073;&#1086;&#1090;&#1072;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0.%20&#1058;&#1077;&#1093;&#1085;&#1080;&#1095;&#1077;&#1089;&#1082;&#1086;&#1077;%20&#1079;&#1072;&#1076;&#1072;&#1085;&#1080;&#1077;%20&#1076;&#1083;&#1103;%20&#1072;&#1085;&#1072;&#1083;&#1080;&#1090;&#1080;&#1082;&#1072;%20-%20&#1072;&#1085;&#1072;&#1083;&#1080;&#1079;%20&#1090;&#1086;&#1088;&#1075;&#1086;&#1074;&#1099;&#1093;%20&#1090;&#1086;&#1095;&#1077;&#1082;\Transaction_list%20(&#1076;&#1086;&#1084;&#1072;&#1096;&#1085;&#1103;&#1103;%20&#1088;&#1072;&#1073;&#1086;&#1090;&#1072;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0.%20&#1058;&#1077;&#1093;&#1085;&#1080;&#1095;&#1077;&#1089;&#1082;&#1086;&#1077;%20&#1079;&#1072;&#1076;&#1072;&#1085;&#1080;&#1077;%20&#1076;&#1083;&#1103;%20&#1072;&#1085;&#1072;&#1083;&#1080;&#1090;&#1080;&#1082;&#1072;%20-%20&#1072;&#1085;&#1072;&#1083;&#1080;&#1079;%20&#1090;&#1086;&#1088;&#1075;&#1086;&#1074;&#1099;&#1093;%20&#1090;&#1086;&#1095;&#1077;&#1082;\Transaction_list%20(&#1076;&#1086;&#1084;&#1072;&#1096;&#1085;&#1103;&#1103;%20&#1088;&#1072;&#1073;&#1086;&#1090;&#1072;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0.%20&#1058;&#1077;&#1093;&#1085;&#1080;&#1095;&#1077;&#1089;&#1082;&#1086;&#1077;%20&#1079;&#1072;&#1076;&#1072;&#1085;&#1080;&#1077;%20&#1076;&#1083;&#1103;%20&#1072;&#1085;&#1072;&#1083;&#1080;&#1090;&#1080;&#1082;&#1072;%20-%20&#1072;&#1085;&#1072;&#1083;&#1080;&#1079;%20&#1090;&#1086;&#1088;&#1075;&#1086;&#1074;&#1099;&#1093;%20&#1090;&#1086;&#1095;&#1077;&#1082;\Transaction_list%20(&#1076;&#1086;&#1084;&#1072;&#1096;&#1085;&#1103;&#1103;%20&#1088;&#1072;&#1073;&#1086;&#1090;&#1072;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0.%20&#1058;&#1077;&#1093;&#1085;&#1080;&#1095;&#1077;&#1089;&#1082;&#1086;&#1077;%20&#1079;&#1072;&#1076;&#1072;&#1085;&#1080;&#1077;%20&#1076;&#1083;&#1103;%20&#1072;&#1085;&#1072;&#1083;&#1080;&#1090;&#1080;&#1082;&#1072;%20-%20&#1072;&#1085;&#1072;&#1083;&#1080;&#1079;%20&#1090;&#1086;&#1088;&#1075;&#1086;&#1074;&#1099;&#1093;%20&#1090;&#1086;&#1095;&#1077;&#1082;\Transaction_list%20(&#1076;&#1086;&#1084;&#1072;&#1096;&#1085;&#1103;&#1103;%20&#1088;&#1072;&#1073;&#1086;&#1090;&#1072;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0.%20&#1058;&#1077;&#1093;&#1085;&#1080;&#1095;&#1077;&#1089;&#1082;&#1086;&#1077;%20&#1079;&#1072;&#1076;&#1072;&#1085;&#1080;&#1077;%20&#1076;&#1083;&#1103;%20&#1072;&#1085;&#1072;&#1083;&#1080;&#1090;&#1080;&#1082;&#1072;%20-%20&#1072;&#1085;&#1072;&#1083;&#1080;&#1079;%20&#1090;&#1086;&#1088;&#1075;&#1086;&#1074;&#1099;&#1093;%20&#1090;&#1086;&#1095;&#1077;&#1082;\Transaction_list%20(&#1076;&#1086;&#1084;&#1072;&#1096;&#1085;&#1103;&#1103;%20&#1088;&#1072;&#1073;&#1086;&#1090;&#1072;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2.%20&#1058;&#1077;&#1093;&#1085;&#1080;&#1095;&#1077;&#1089;&#1082;&#1086;&#1077;%20&#1079;&#1072;&#1076;&#1072;&#1085;&#1080;&#1077;%20&#1076;&#1083;&#1103;%20&#1072;&#1085;&#1072;&#1083;&#1080;&#1090;&#1080;&#1082;&#1072;%20-%20&#1074;&#1083;&#1080;&#1103;&#1085;&#1080;&#1077;%20&#1090;&#1077;&#1093;.%20&#1089;&#1073;&#1086;&#1077;&#1074;%20&#1080;%20&#1072;&#1082;&#1094;&#1080;&#1081;\Transaction_list2%20(&#1076;&#1086;&#1084;&#1072;&#1096;&#1085;&#1103;&#1103;%20&#1088;&#1072;&#1073;&#1086;&#1090;&#1072;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2.%20&#1058;&#1077;&#1093;&#1085;&#1080;&#1095;&#1077;&#1089;&#1082;&#1086;&#1077;%20&#1079;&#1072;&#1076;&#1072;&#1085;&#1080;&#1077;%20&#1076;&#1083;&#1103;%20&#1072;&#1085;&#1072;&#1083;&#1080;&#1090;&#1080;&#1082;&#1072;%20-%20&#1074;&#1083;&#1080;&#1103;&#1085;&#1080;&#1077;%20&#1090;&#1077;&#1093;.%20&#1089;&#1073;&#1086;&#1077;&#1074;%20&#1080;%20&#1072;&#1082;&#1094;&#1080;&#1081;\Transaction_list2%20(&#1076;&#1086;&#1084;&#1072;&#1096;&#1085;&#1103;&#1103;%20&#1088;&#1072;&#1073;&#1086;&#1090;&#1072;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2.%20&#1058;&#1077;&#1093;&#1085;&#1080;&#1095;&#1077;&#1089;&#1082;&#1086;&#1077;%20&#1079;&#1072;&#1076;&#1072;&#1085;&#1080;&#1077;%20&#1076;&#1083;&#1103;%20&#1072;&#1085;&#1072;&#1083;&#1080;&#1090;&#1080;&#1082;&#1072;%20-%20&#1074;&#1083;&#1080;&#1103;&#1085;&#1080;&#1077;%20&#1090;&#1077;&#1093;.%20&#1089;&#1073;&#1086;&#1077;&#1074;%20&#1080;%20&#1072;&#1082;&#1094;&#1080;&#1081;\Transaction_list2%20(&#1076;&#1086;&#1084;&#1072;&#1096;&#1085;&#1103;&#1103;%20&#1088;&#1072;&#1073;&#1086;&#1090;&#1072;)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2.%20&#1058;&#1077;&#1093;&#1085;&#1080;&#1095;&#1077;&#1089;&#1082;&#1086;&#1077;%20&#1079;&#1072;&#1076;&#1072;&#1085;&#1080;&#1077;%20&#1076;&#1083;&#1103;%20&#1072;&#1085;&#1072;&#1083;&#1080;&#1090;&#1080;&#1082;&#1072;%20-%20&#1074;&#1083;&#1080;&#1103;&#1085;&#1080;&#1077;%20&#1090;&#1077;&#1093;.%20&#1089;&#1073;&#1086;&#1077;&#1074;%20&#1080;%20&#1072;&#1082;&#1094;&#1080;&#1081;\Transaction_list2%20(&#1076;&#1086;&#1084;&#1072;&#1096;&#1085;&#1103;&#1103;%20&#1088;&#1072;&#1073;&#1086;&#1090;&#1072;)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a\Desktop\&#1040;&#1085;&#1072;&#1083;&#1080;&#1090;&#1080;&#1082;&#1072;%20&#1076;&#1072;&#1085;&#1085;&#1099;&#1093;\&#1056;&#1072;&#1079;&#1076;&#1077;&#1083;%201.%20&#1054;&#1089;&#1085;&#1086;&#1074;&#1099;%20&#1088;&#1072;&#1073;&#1086;&#1090;&#1099;%20&#1074;%20Excel\12.%20&#1058;&#1077;&#1093;&#1085;&#1080;&#1095;&#1077;&#1089;&#1082;&#1086;&#1077;%20&#1079;&#1072;&#1076;&#1072;&#1085;&#1080;&#1077;%20&#1076;&#1083;&#1103;%20&#1072;&#1085;&#1072;&#1083;&#1080;&#1090;&#1080;&#1082;&#1072;%20-%20&#1074;&#1083;&#1080;&#1103;&#1085;&#1080;&#1077;%20&#1090;&#1077;&#1093;.%20&#1089;&#1073;&#1086;&#1077;&#1074;%20&#1080;%20&#1072;&#1082;&#1094;&#1080;&#1081;\Transaction_list2%20(&#1076;&#1086;&#1084;&#1072;&#1096;&#1085;&#1103;&#1103;%20&#1088;&#1072;&#1073;&#1086;&#1090;&#1072;)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 (домашняя работа).xlsx]1!Сводная таблица1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b="0" i="0" baseline="0" dirty="0">
                <a:effectLst/>
              </a:rPr>
              <a:t>Динамика общего количества транзакций с разбивкой по торговым точкам</a:t>
            </a:r>
          </a:p>
          <a:p>
            <a:pPr>
              <a:defRPr/>
            </a:pPr>
            <a:endParaRPr lang="ru-RU" sz="20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8453060215299172E-2"/>
          <c:y val="0.19215077255139376"/>
          <c:w val="0.71637595572292589"/>
          <c:h val="0.6604337822907754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'1'!$B$3:$B$4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'1'!$A$5:$A$9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'1'!$B$5:$B$9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43-46D2-BB1A-962CB1A23A95}"/>
            </c:ext>
          </c:extLst>
        </c:ser>
        <c:ser>
          <c:idx val="1"/>
          <c:order val="1"/>
          <c:tx>
            <c:strRef>
              <c:f>'1'!$C$3:$C$4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'1'!$A$5:$A$9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'1'!$C$5:$C$9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43-46D2-BB1A-962CB1A23A95}"/>
            </c:ext>
          </c:extLst>
        </c:ser>
        <c:ser>
          <c:idx val="2"/>
          <c:order val="2"/>
          <c:tx>
            <c:strRef>
              <c:f>'1'!$D$3:$D$4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'1'!$A$5:$A$9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'1'!$D$5:$D$9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43-46D2-BB1A-962CB1A23A95}"/>
            </c:ext>
          </c:extLst>
        </c:ser>
        <c:ser>
          <c:idx val="3"/>
          <c:order val="3"/>
          <c:tx>
            <c:strRef>
              <c:f>'1'!$E$3:$E$4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'1'!$A$5:$A$9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'1'!$E$5:$E$9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143-46D2-BB1A-962CB1A23A95}"/>
            </c:ext>
          </c:extLst>
        </c:ser>
        <c:ser>
          <c:idx val="4"/>
          <c:order val="4"/>
          <c:tx>
            <c:strRef>
              <c:f>'1'!$F$3:$F$4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'1'!$A$5:$A$9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'1'!$F$5:$F$9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43-46D2-BB1A-962CB1A23A95}"/>
            </c:ext>
          </c:extLst>
        </c:ser>
        <c:ser>
          <c:idx val="5"/>
          <c:order val="5"/>
          <c:tx>
            <c:strRef>
              <c:f>'1'!$G$3:$G$4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'1'!$A$5:$A$9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'1'!$G$5:$G$9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143-46D2-BB1A-962CB1A23A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29964799"/>
        <c:axId val="1929968959"/>
      </c:barChart>
      <c:catAx>
        <c:axId val="19299647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29968959"/>
        <c:crosses val="autoZero"/>
        <c:auto val="1"/>
        <c:lblAlgn val="ctr"/>
        <c:lblOffset val="100"/>
        <c:noMultiLvlLbl val="0"/>
      </c:catAx>
      <c:valAx>
        <c:axId val="1929968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29964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207539274981932"/>
          <c:y val="0.34555164411498263"/>
          <c:w val="0.19067823043858648"/>
          <c:h val="0.324701045977122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 sz="900" dirty="0"/>
          </a:p>
          <a:p>
            <a:pPr>
              <a:defRPr/>
            </a:pPr>
            <a:r>
              <a:rPr lang="ru-RU" sz="2000" dirty="0"/>
              <a:t>Динамика нагрузки на серверы</a:t>
            </a:r>
          </a:p>
          <a:p>
            <a:pPr>
              <a:defRPr/>
            </a:pPr>
            <a:endParaRPr lang="ru-RU" sz="9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1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"/>
              <c:pt idx="0">
                <c:v>01.сен</c:v>
              </c:pt>
              <c:pt idx="1">
                <c:v>02.сен</c:v>
              </c:pt>
              <c:pt idx="2">
                <c:v>03.сен</c:v>
              </c:pt>
              <c:pt idx="3">
                <c:v>04.сен</c:v>
              </c:pt>
            </c:strLit>
          </c:cat>
          <c:val>
            <c:numLit>
              <c:formatCode>General</c:formatCode>
              <c:ptCount val="4"/>
              <c:pt idx="0">
                <c:v>1974</c:v>
              </c:pt>
              <c:pt idx="1">
                <c:v>1980</c:v>
              </c:pt>
              <c:pt idx="2">
                <c:v>1306</c:v>
              </c:pt>
              <c:pt idx="3">
                <c:v>1329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52AD-48CC-8111-E8ECAA7BE633}"/>
            </c:ext>
          </c:extLst>
        </c:ser>
        <c:ser>
          <c:idx val="1"/>
          <c:order val="1"/>
          <c:tx>
            <c:v>2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Lit>
              <c:ptCount val="4"/>
              <c:pt idx="0">
                <c:v>01.сен</c:v>
              </c:pt>
              <c:pt idx="1">
                <c:v>02.сен</c:v>
              </c:pt>
              <c:pt idx="2">
                <c:v>03.сен</c:v>
              </c:pt>
              <c:pt idx="3">
                <c:v>04.сен</c:v>
              </c:pt>
            </c:strLit>
          </c:cat>
          <c:val>
            <c:numLit>
              <c:formatCode>General</c:formatCode>
              <c:ptCount val="4"/>
              <c:pt idx="0">
                <c:v>4467</c:v>
              </c:pt>
              <c:pt idx="1">
                <c:v>4485</c:v>
              </c:pt>
              <c:pt idx="2">
                <c:v>4272</c:v>
              </c:pt>
              <c:pt idx="3">
                <c:v>4248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52AD-48CC-8111-E8ECAA7BE633}"/>
            </c:ext>
          </c:extLst>
        </c:ser>
        <c:ser>
          <c:idx val="2"/>
          <c:order val="2"/>
          <c:tx>
            <c:v>3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Lit>
              <c:ptCount val="4"/>
              <c:pt idx="0">
                <c:v>01.сен</c:v>
              </c:pt>
              <c:pt idx="1">
                <c:v>02.сен</c:v>
              </c:pt>
              <c:pt idx="2">
                <c:v>03.сен</c:v>
              </c:pt>
              <c:pt idx="3">
                <c:v>04.сен</c:v>
              </c:pt>
            </c:strLit>
          </c:cat>
          <c:val>
            <c:numLit>
              <c:formatCode>General</c:formatCode>
              <c:ptCount val="4"/>
              <c:pt idx="0">
                <c:v>1408</c:v>
              </c:pt>
              <c:pt idx="1">
                <c:v>1482</c:v>
              </c:pt>
              <c:pt idx="2">
                <c:v>3211</c:v>
              </c:pt>
              <c:pt idx="3">
                <c:v>4498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52AD-48CC-8111-E8ECAA7BE6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051823"/>
        <c:axId val="88045999"/>
      </c:lineChart>
      <c:catAx>
        <c:axId val="880518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045999"/>
        <c:crosses val="autoZero"/>
        <c:auto val="1"/>
        <c:lblAlgn val="ctr"/>
        <c:lblOffset val="100"/>
        <c:noMultiLvlLbl val="0"/>
      </c:catAx>
      <c:valAx>
        <c:axId val="88045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05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0707371382151203"/>
          <c:y val="0.37455131096115479"/>
          <c:w val="8.5504058847937853E-2"/>
          <c:h val="0.200944555864656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 (домашняя работа).xlsx]2!Сводная таблица2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/>
              <a:t>Динамика</a:t>
            </a:r>
            <a:r>
              <a:rPr lang="ru-RU" sz="2000" baseline="0" dirty="0"/>
              <a:t> н</a:t>
            </a:r>
            <a:r>
              <a:rPr lang="ru-RU" sz="2000" dirty="0"/>
              <a:t>агрузки на серверы при перераспределении</a:t>
            </a:r>
            <a:r>
              <a:rPr lang="ru-RU" sz="2000" baseline="0" dirty="0"/>
              <a:t> транзакций</a:t>
            </a:r>
            <a:endParaRPr lang="ru-RU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'2'!$B$37:$B$38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'2'!$A$39:$A$43</c:f>
              <c:strCache>
                <c:ptCount val="4"/>
                <c:pt idx="0">
                  <c:v>1.сен</c:v>
                </c:pt>
                <c:pt idx="1">
                  <c:v>2.сен</c:v>
                </c:pt>
                <c:pt idx="2">
                  <c:v>3.сен</c:v>
                </c:pt>
                <c:pt idx="3">
                  <c:v>4.сен</c:v>
                </c:pt>
              </c:strCache>
            </c:strRef>
          </c:cat>
          <c:val>
            <c:numRef>
              <c:f>'2'!$B$39:$B$43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2694</c:v>
                </c:pt>
                <c:pt idx="3">
                  <c:v>2655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54-440C-BF1C-D2388F4AA068}"/>
            </c:ext>
          </c:extLst>
        </c:ser>
        <c:ser>
          <c:idx val="1"/>
          <c:order val="1"/>
          <c:tx>
            <c:strRef>
              <c:f>'2'!$C$37:$C$38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'2'!$A$39:$A$43</c:f>
              <c:strCache>
                <c:ptCount val="4"/>
                <c:pt idx="0">
                  <c:v>1.сен</c:v>
                </c:pt>
                <c:pt idx="1">
                  <c:v>2.сен</c:v>
                </c:pt>
                <c:pt idx="2">
                  <c:v>3.сен</c:v>
                </c:pt>
                <c:pt idx="3">
                  <c:v>4.сен</c:v>
                </c:pt>
              </c:strCache>
            </c:strRef>
          </c:cat>
          <c:val>
            <c:numRef>
              <c:f>'2'!$C$39:$C$43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54-440C-BF1C-D2388F4AA068}"/>
            </c:ext>
          </c:extLst>
        </c:ser>
        <c:ser>
          <c:idx val="2"/>
          <c:order val="2"/>
          <c:tx>
            <c:strRef>
              <c:f>'2'!$D$37:$D$38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'2'!$A$39:$A$43</c:f>
              <c:strCache>
                <c:ptCount val="4"/>
                <c:pt idx="0">
                  <c:v>1.сен</c:v>
                </c:pt>
                <c:pt idx="1">
                  <c:v>2.сен</c:v>
                </c:pt>
                <c:pt idx="2">
                  <c:v>3.сен</c:v>
                </c:pt>
                <c:pt idx="3">
                  <c:v>4.сен</c:v>
                </c:pt>
              </c:strCache>
            </c:strRef>
          </c:cat>
          <c:val>
            <c:numRef>
              <c:f>'2'!$D$39:$D$43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1823</c:v>
                </c:pt>
                <c:pt idx="3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54-440C-BF1C-D2388F4AA0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66190016"/>
        <c:axId val="966189600"/>
      </c:lineChart>
      <c:catAx>
        <c:axId val="9661900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66189600"/>
        <c:crosses val="autoZero"/>
        <c:auto val="1"/>
        <c:lblAlgn val="ctr"/>
        <c:lblOffset val="100"/>
        <c:noMultiLvlLbl val="0"/>
      </c:catAx>
      <c:valAx>
        <c:axId val="966189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66190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0581316438529436"/>
          <c:y val="0.37993558968258229"/>
          <c:w val="8.4039595755513313E-2"/>
          <c:h val="0.193908784679401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 (домашняя работа).xlsx]3!Сводная таблица6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 sz="1000" dirty="0"/>
          </a:p>
          <a:p>
            <a:pPr>
              <a:defRPr/>
            </a:pPr>
            <a:r>
              <a:rPr lang="ru-RU" sz="2000" dirty="0"/>
              <a:t>Доли операций по кассам самообслуживания в динамике</a:t>
            </a:r>
          </a:p>
          <a:p>
            <a:pPr>
              <a:defRPr/>
            </a:pPr>
            <a:endParaRPr lang="ru-RU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'3'!$B$23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'3'!$A$24:$A$28</c:f>
              <c:strCache>
                <c:ptCount val="4"/>
                <c:pt idx="0">
                  <c:v>1 сентября</c:v>
                </c:pt>
                <c:pt idx="1">
                  <c:v>2 сентября</c:v>
                </c:pt>
                <c:pt idx="2">
                  <c:v>3 сентября</c:v>
                </c:pt>
                <c:pt idx="3">
                  <c:v>4 сентября</c:v>
                </c:pt>
              </c:strCache>
            </c:strRef>
          </c:cat>
          <c:val>
            <c:numRef>
              <c:f>'3'!$B$24:$B$28</c:f>
              <c:numCache>
                <c:formatCode>0.00%;\-0.00%;0.00%</c:formatCode>
                <c:ptCount val="4"/>
                <c:pt idx="0">
                  <c:v>0.23085743406803413</c:v>
                </c:pt>
                <c:pt idx="1">
                  <c:v>0.22876557191392979</c:v>
                </c:pt>
                <c:pt idx="2">
                  <c:v>0.30071680509728071</c:v>
                </c:pt>
                <c:pt idx="3">
                  <c:v>0.36099255583126549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CE-49BC-B914-91BB624F2C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0729967"/>
        <c:axId val="2090717487"/>
      </c:lineChart>
      <c:catAx>
        <c:axId val="20907299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0717487"/>
        <c:crosses val="autoZero"/>
        <c:auto val="1"/>
        <c:lblAlgn val="ctr"/>
        <c:lblOffset val="100"/>
        <c:noMultiLvlLbl val="0"/>
      </c:catAx>
      <c:valAx>
        <c:axId val="2090717487"/>
        <c:scaling>
          <c:orientation val="minMax"/>
          <c:min val="0.1500000000000000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Доли оплат через кассы самообслуживания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;\-0.00%;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07299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 (домашняя работа).xlsx]3!Сводная таблица8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 sz="1000" dirty="0"/>
          </a:p>
          <a:p>
            <a:pPr>
              <a:defRPr/>
            </a:pPr>
            <a:r>
              <a:rPr lang="ru-RU" sz="2000" dirty="0"/>
              <a:t>Среднее время обработки платежа в динамике</a:t>
            </a:r>
          </a:p>
          <a:p>
            <a:pPr>
              <a:defRPr/>
            </a:pPr>
            <a:endParaRPr lang="ru-RU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'3'!$B$50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'3'!$A$51:$A$55</c:f>
              <c:strCache>
                <c:ptCount val="4"/>
                <c:pt idx="0">
                  <c:v>1 сентября</c:v>
                </c:pt>
                <c:pt idx="1">
                  <c:v>2 сентября</c:v>
                </c:pt>
                <c:pt idx="2">
                  <c:v>3 сентября</c:v>
                </c:pt>
                <c:pt idx="3">
                  <c:v>4 сентября</c:v>
                </c:pt>
              </c:strCache>
            </c:strRef>
          </c:cat>
          <c:val>
            <c:numRef>
              <c:f>'3'!$B$51:$B$55</c:f>
              <c:numCache>
                <c:formatCode>General</c:formatCode>
                <c:ptCount val="4"/>
                <c:pt idx="0">
                  <c:v>124.70721337497949</c:v>
                </c:pt>
                <c:pt idx="1">
                  <c:v>80.103562879249552</c:v>
                </c:pt>
                <c:pt idx="2">
                  <c:v>85.846029801290712</c:v>
                </c:pt>
                <c:pt idx="3">
                  <c:v>90.399762174202408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50-4150-812C-DCEBFC0D2A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0744527"/>
        <c:axId val="2090757423"/>
      </c:lineChart>
      <c:catAx>
        <c:axId val="20907445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0757423"/>
        <c:crosses val="autoZero"/>
        <c:auto val="1"/>
        <c:lblAlgn val="ctr"/>
        <c:lblOffset val="100"/>
        <c:noMultiLvlLbl val="0"/>
      </c:catAx>
      <c:valAx>
        <c:axId val="2090757423"/>
        <c:scaling>
          <c:orientation val="minMax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Время, сек.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0744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 (домашняя работа).xlsx]Задача 2!Сводная таблица4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/>
              <a:t>Динамика среднего времени обработки платежа по торговым</a:t>
            </a:r>
            <a:r>
              <a:rPr lang="ru-RU" sz="2000" baseline="0" dirty="0"/>
              <a:t> точкам</a:t>
            </a:r>
          </a:p>
          <a:p>
            <a:pPr>
              <a:defRPr/>
            </a:pPr>
            <a:endParaRPr lang="ru-RU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743856746167598E-2"/>
          <c:y val="0.16167912891574418"/>
          <c:w val="0.71759157822663466"/>
          <c:h val="0.69090548304549149"/>
        </c:manualLayout>
      </c:layout>
      <c:lineChart>
        <c:grouping val="standard"/>
        <c:varyColors val="0"/>
        <c:ser>
          <c:idx val="0"/>
          <c:order val="0"/>
          <c:tx>
            <c:strRef>
              <c:f>'Задача 2'!$B$34:$B$35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2'!$B$36:$B$60</c:f>
              <c:numCache>
                <c:formatCode>General</c:formatCode>
                <c:ptCount val="24"/>
                <c:pt idx="0">
                  <c:v>75.395693813505417</c:v>
                </c:pt>
                <c:pt idx="1">
                  <c:v>63.803369537015094</c:v>
                </c:pt>
                <c:pt idx="2">
                  <c:v>64.302538320128065</c:v>
                </c:pt>
                <c:pt idx="3">
                  <c:v>73.825465878638042</c:v>
                </c:pt>
                <c:pt idx="4">
                  <c:v>77.495481276207343</c:v>
                </c:pt>
                <c:pt idx="5">
                  <c:v>70.93505214408809</c:v>
                </c:pt>
                <c:pt idx="6">
                  <c:v>64.32266108400654</c:v>
                </c:pt>
                <c:pt idx="7">
                  <c:v>72.744772363895251</c:v>
                </c:pt>
                <c:pt idx="8">
                  <c:v>75.836212983211652</c:v>
                </c:pt>
                <c:pt idx="9">
                  <c:v>72.093852642124062</c:v>
                </c:pt>
                <c:pt idx="10">
                  <c:v>74.246592381361708</c:v>
                </c:pt>
                <c:pt idx="11">
                  <c:v>166.0814692533867</c:v>
                </c:pt>
                <c:pt idx="12">
                  <c:v>169.63459274265915</c:v>
                </c:pt>
                <c:pt idx="13">
                  <c:v>161.19862416597579</c:v>
                </c:pt>
                <c:pt idx="14">
                  <c:v>156.1355107259827</c:v>
                </c:pt>
                <c:pt idx="15">
                  <c:v>159.06993045640939</c:v>
                </c:pt>
                <c:pt idx="16">
                  <c:v>68.654513563466281</c:v>
                </c:pt>
                <c:pt idx="17">
                  <c:v>69.996400116551143</c:v>
                </c:pt>
                <c:pt idx="18">
                  <c:v>78.990293901342042</c:v>
                </c:pt>
                <c:pt idx="19">
                  <c:v>82.032843651885003</c:v>
                </c:pt>
                <c:pt idx="20">
                  <c:v>84.799599664677913</c:v>
                </c:pt>
                <c:pt idx="21">
                  <c:v>74.605752171303791</c:v>
                </c:pt>
                <c:pt idx="22">
                  <c:v>65.935049111604556</c:v>
                </c:pt>
                <c:pt idx="23">
                  <c:v>78.353372954434775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45-41FE-B234-935038D90C57}"/>
            </c:ext>
          </c:extLst>
        </c:ser>
        <c:ser>
          <c:idx val="1"/>
          <c:order val="1"/>
          <c:tx>
            <c:strRef>
              <c:f>'Задача 2'!$C$34:$C$35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2'!$C$36:$C$60</c:f>
              <c:numCache>
                <c:formatCode>General</c:formatCode>
                <c:ptCount val="24"/>
                <c:pt idx="0">
                  <c:v>107.49582496272134</c:v>
                </c:pt>
                <c:pt idx="1">
                  <c:v>124.21704964204268</c:v>
                </c:pt>
                <c:pt idx="2">
                  <c:v>115.94877371956643</c:v>
                </c:pt>
                <c:pt idx="3">
                  <c:v>117.15483950078487</c:v>
                </c:pt>
                <c:pt idx="4">
                  <c:v>107.61570963252969</c:v>
                </c:pt>
                <c:pt idx="5">
                  <c:v>107.16517550356097</c:v>
                </c:pt>
                <c:pt idx="6">
                  <c:v>113.95561235612664</c:v>
                </c:pt>
                <c:pt idx="7">
                  <c:v>112.12564257333393</c:v>
                </c:pt>
                <c:pt idx="8">
                  <c:v>120.5230783858061</c:v>
                </c:pt>
                <c:pt idx="9">
                  <c:v>109.85963646697797</c:v>
                </c:pt>
                <c:pt idx="10">
                  <c:v>97.629621258128509</c:v>
                </c:pt>
                <c:pt idx="11">
                  <c:v>151.87495674239472</c:v>
                </c:pt>
                <c:pt idx="12">
                  <c:v>155.7312388562739</c:v>
                </c:pt>
                <c:pt idx="13">
                  <c:v>164.51194040791327</c:v>
                </c:pt>
                <c:pt idx="14">
                  <c:v>152.39455179096416</c:v>
                </c:pt>
                <c:pt idx="15">
                  <c:v>162.37560112494975</c:v>
                </c:pt>
                <c:pt idx="16">
                  <c:v>108.80381082103628</c:v>
                </c:pt>
                <c:pt idx="17">
                  <c:v>99.361860015514225</c:v>
                </c:pt>
                <c:pt idx="18">
                  <c:v>98.405670970320131</c:v>
                </c:pt>
                <c:pt idx="19">
                  <c:v>122.04666592726043</c:v>
                </c:pt>
                <c:pt idx="20">
                  <c:v>105.12338564035713</c:v>
                </c:pt>
                <c:pt idx="21">
                  <c:v>104.6946665501668</c:v>
                </c:pt>
                <c:pt idx="22">
                  <c:v>96.848222420085222</c:v>
                </c:pt>
                <c:pt idx="23">
                  <c:v>112.39395128696093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45-41FE-B234-935038D90C57}"/>
            </c:ext>
          </c:extLst>
        </c:ser>
        <c:ser>
          <c:idx val="2"/>
          <c:order val="2"/>
          <c:tx>
            <c:strRef>
              <c:f>'Задача 2'!$D$34:$D$35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2'!$D$36:$D$60</c:f>
              <c:numCache>
                <c:formatCode>General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45-41FE-B234-935038D90C57}"/>
            </c:ext>
          </c:extLst>
        </c:ser>
        <c:ser>
          <c:idx val="3"/>
          <c:order val="3"/>
          <c:tx>
            <c:strRef>
              <c:f>'Задача 2'!$E$34:$E$35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2'!$E$36:$E$60</c:f>
              <c:numCache>
                <c:formatCode>General</c:formatCode>
                <c:ptCount val="24"/>
                <c:pt idx="0">
                  <c:v>220.62057200819254</c:v>
                </c:pt>
                <c:pt idx="1">
                  <c:v>204.96410390761281</c:v>
                </c:pt>
                <c:pt idx="2">
                  <c:v>221.36091590106773</c:v>
                </c:pt>
                <c:pt idx="3">
                  <c:v>197.45958196165572</c:v>
                </c:pt>
                <c:pt idx="4">
                  <c:v>224.71267680735573</c:v>
                </c:pt>
                <c:pt idx="5">
                  <c:v>195.20977961186034</c:v>
                </c:pt>
                <c:pt idx="6">
                  <c:v>219.13856745609459</c:v>
                </c:pt>
                <c:pt idx="7">
                  <c:v>215.82051226403564</c:v>
                </c:pt>
                <c:pt idx="8">
                  <c:v>227.35399767689938</c:v>
                </c:pt>
                <c:pt idx="9">
                  <c:v>212.47934923241181</c:v>
                </c:pt>
                <c:pt idx="10">
                  <c:v>216.63862868603744</c:v>
                </c:pt>
                <c:pt idx="11">
                  <c:v>228.1377139716642</c:v>
                </c:pt>
                <c:pt idx="12">
                  <c:v>212.38955941728571</c:v>
                </c:pt>
                <c:pt idx="13">
                  <c:v>243.28885256778449</c:v>
                </c:pt>
                <c:pt idx="14">
                  <c:v>223.62056859260932</c:v>
                </c:pt>
                <c:pt idx="15">
                  <c:v>226.06843373909288</c:v>
                </c:pt>
                <c:pt idx="16">
                  <c:v>227.82689876330551</c:v>
                </c:pt>
                <c:pt idx="17">
                  <c:v>224.22886722820945</c:v>
                </c:pt>
                <c:pt idx="18">
                  <c:v>206.21106439809265</c:v>
                </c:pt>
                <c:pt idx="19">
                  <c:v>185.70843723602593</c:v>
                </c:pt>
                <c:pt idx="20">
                  <c:v>213.54483874336651</c:v>
                </c:pt>
                <c:pt idx="21">
                  <c:v>240.09581529335784</c:v>
                </c:pt>
                <c:pt idx="22">
                  <c:v>223.10670610517263</c:v>
                </c:pt>
                <c:pt idx="23">
                  <c:v>236.15579103352502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C45-41FE-B234-935038D90C57}"/>
            </c:ext>
          </c:extLst>
        </c:ser>
        <c:ser>
          <c:idx val="4"/>
          <c:order val="4"/>
          <c:tx>
            <c:strRef>
              <c:f>'Задача 2'!$F$34:$F$35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2'!$F$36:$F$60</c:f>
              <c:numCache>
                <c:formatCode>General</c:formatCode>
                <c:ptCount val="24"/>
                <c:pt idx="0">
                  <c:v>144.2157665317479</c:v>
                </c:pt>
                <c:pt idx="1">
                  <c:v>126.90396837831941</c:v>
                </c:pt>
                <c:pt idx="2">
                  <c:v>128.80592484725639</c:v>
                </c:pt>
                <c:pt idx="3">
                  <c:v>257.67098882206483</c:v>
                </c:pt>
                <c:pt idx="4">
                  <c:v>183.63044598781681</c:v>
                </c:pt>
                <c:pt idx="5">
                  <c:v>287.76392666331958</c:v>
                </c:pt>
                <c:pt idx="6">
                  <c:v>218.7712519130898</c:v>
                </c:pt>
                <c:pt idx="7">
                  <c:v>138.80676475058937</c:v>
                </c:pt>
                <c:pt idx="8">
                  <c:v>147.88707348983735</c:v>
                </c:pt>
                <c:pt idx="9">
                  <c:v>148.67805009707808</c:v>
                </c:pt>
                <c:pt idx="10">
                  <c:v>143.25941399005907</c:v>
                </c:pt>
                <c:pt idx="11">
                  <c:v>131.28065239516613</c:v>
                </c:pt>
                <c:pt idx="12">
                  <c:v>138.66500442428514</c:v>
                </c:pt>
                <c:pt idx="13">
                  <c:v>136.430150891674</c:v>
                </c:pt>
                <c:pt idx="14">
                  <c:v>136.04584586994841</c:v>
                </c:pt>
                <c:pt idx="15">
                  <c:v>134.5910629822298</c:v>
                </c:pt>
                <c:pt idx="16">
                  <c:v>155.28822427382693</c:v>
                </c:pt>
                <c:pt idx="17">
                  <c:v>136.43725179426838</c:v>
                </c:pt>
                <c:pt idx="18">
                  <c:v>157.17893237914805</c:v>
                </c:pt>
                <c:pt idx="19">
                  <c:v>127.99031683654688</c:v>
                </c:pt>
                <c:pt idx="20">
                  <c:v>168.69327854972494</c:v>
                </c:pt>
                <c:pt idx="21">
                  <c:v>146.66882445177944</c:v>
                </c:pt>
                <c:pt idx="22">
                  <c:v>165.48762260254745</c:v>
                </c:pt>
                <c:pt idx="23">
                  <c:v>155.28277886280028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C45-41FE-B234-935038D90C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66175040"/>
        <c:axId val="966200416"/>
      </c:lineChart>
      <c:catAx>
        <c:axId val="9661750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Время суток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66200416"/>
        <c:crosses val="autoZero"/>
        <c:auto val="1"/>
        <c:lblAlgn val="ctr"/>
        <c:lblOffset val="100"/>
        <c:noMultiLvlLbl val="0"/>
      </c:catAx>
      <c:valAx>
        <c:axId val="966200416"/>
        <c:scaling>
          <c:orientation val="minMax"/>
          <c:min val="5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Среднее время обработки платежа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66175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952289931149889"/>
          <c:y val="0.38185243251615941"/>
          <c:w val="0.19323072387690668"/>
          <c:h val="0.290041821619005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 (домашняя работа).xlsx]Задача 2!Сводная таблица1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Динамика количества транзакций</a:t>
            </a:r>
            <a:r>
              <a:rPr lang="ru-RU" sz="1500" baseline="0" dirty="0"/>
              <a:t> по торговым точкам</a:t>
            </a:r>
            <a:endParaRPr lang="ru-RU" sz="15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'Задача 2'!$B$3:$B$4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2'!$B$5:$B$29</c:f>
              <c:numCache>
                <c:formatCode>General</c:formatCode>
                <c:ptCount val="24"/>
                <c:pt idx="0">
                  <c:v>119</c:v>
                </c:pt>
                <c:pt idx="1">
                  <c:v>97</c:v>
                </c:pt>
                <c:pt idx="2">
                  <c:v>95</c:v>
                </c:pt>
                <c:pt idx="3">
                  <c:v>84</c:v>
                </c:pt>
                <c:pt idx="4">
                  <c:v>110</c:v>
                </c:pt>
                <c:pt idx="5">
                  <c:v>92</c:v>
                </c:pt>
                <c:pt idx="6">
                  <c:v>120</c:v>
                </c:pt>
                <c:pt idx="7">
                  <c:v>114</c:v>
                </c:pt>
                <c:pt idx="8">
                  <c:v>117</c:v>
                </c:pt>
                <c:pt idx="9">
                  <c:v>106</c:v>
                </c:pt>
                <c:pt idx="10">
                  <c:v>115</c:v>
                </c:pt>
                <c:pt idx="11">
                  <c:v>134</c:v>
                </c:pt>
                <c:pt idx="12">
                  <c:v>120</c:v>
                </c:pt>
                <c:pt idx="13">
                  <c:v>147</c:v>
                </c:pt>
                <c:pt idx="14">
                  <c:v>170</c:v>
                </c:pt>
                <c:pt idx="15">
                  <c:v>165</c:v>
                </c:pt>
                <c:pt idx="16">
                  <c:v>113</c:v>
                </c:pt>
                <c:pt idx="17">
                  <c:v>107</c:v>
                </c:pt>
                <c:pt idx="18">
                  <c:v>117</c:v>
                </c:pt>
                <c:pt idx="19">
                  <c:v>110</c:v>
                </c:pt>
                <c:pt idx="20">
                  <c:v>95</c:v>
                </c:pt>
                <c:pt idx="21">
                  <c:v>117</c:v>
                </c:pt>
                <c:pt idx="22">
                  <c:v>109</c:v>
                </c:pt>
                <c:pt idx="23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A1-48D9-9DF0-F721B3685A40}"/>
            </c:ext>
          </c:extLst>
        </c:ser>
        <c:ser>
          <c:idx val="1"/>
          <c:order val="1"/>
          <c:tx>
            <c:strRef>
              <c:f>'Задача 2'!$C$3:$C$4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2'!$C$5:$C$29</c:f>
              <c:numCache>
                <c:formatCode>General</c:formatCode>
                <c:ptCount val="24"/>
                <c:pt idx="0">
                  <c:v>63</c:v>
                </c:pt>
                <c:pt idx="1">
                  <c:v>66</c:v>
                </c:pt>
                <c:pt idx="2">
                  <c:v>57</c:v>
                </c:pt>
                <c:pt idx="3">
                  <c:v>50</c:v>
                </c:pt>
                <c:pt idx="4">
                  <c:v>53</c:v>
                </c:pt>
                <c:pt idx="5">
                  <c:v>57</c:v>
                </c:pt>
                <c:pt idx="6">
                  <c:v>69</c:v>
                </c:pt>
                <c:pt idx="7">
                  <c:v>66</c:v>
                </c:pt>
                <c:pt idx="8">
                  <c:v>71</c:v>
                </c:pt>
                <c:pt idx="9">
                  <c:v>67</c:v>
                </c:pt>
                <c:pt idx="10">
                  <c:v>53</c:v>
                </c:pt>
                <c:pt idx="11">
                  <c:v>90</c:v>
                </c:pt>
                <c:pt idx="12">
                  <c:v>92</c:v>
                </c:pt>
                <c:pt idx="13">
                  <c:v>86</c:v>
                </c:pt>
                <c:pt idx="14">
                  <c:v>78</c:v>
                </c:pt>
                <c:pt idx="15">
                  <c:v>90</c:v>
                </c:pt>
                <c:pt idx="16">
                  <c:v>69</c:v>
                </c:pt>
                <c:pt idx="17">
                  <c:v>66</c:v>
                </c:pt>
                <c:pt idx="18">
                  <c:v>65</c:v>
                </c:pt>
                <c:pt idx="19">
                  <c:v>76</c:v>
                </c:pt>
                <c:pt idx="20">
                  <c:v>77</c:v>
                </c:pt>
                <c:pt idx="21">
                  <c:v>71</c:v>
                </c:pt>
                <c:pt idx="22">
                  <c:v>90</c:v>
                </c:pt>
                <c:pt idx="2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A1-48D9-9DF0-F721B3685A40}"/>
            </c:ext>
          </c:extLst>
        </c:ser>
        <c:ser>
          <c:idx val="2"/>
          <c:order val="2"/>
          <c:tx>
            <c:strRef>
              <c:f>'Задача 2'!$D$3:$D$4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2'!$D$5:$D$29</c:f>
              <c:numCache>
                <c:formatCode>General</c:formatCode>
                <c:ptCount val="24"/>
                <c:pt idx="0">
                  <c:v>49</c:v>
                </c:pt>
                <c:pt idx="1">
                  <c:v>74</c:v>
                </c:pt>
                <c:pt idx="2">
                  <c:v>54</c:v>
                </c:pt>
                <c:pt idx="3">
                  <c:v>49</c:v>
                </c:pt>
                <c:pt idx="4">
                  <c:v>51</c:v>
                </c:pt>
                <c:pt idx="5">
                  <c:v>51</c:v>
                </c:pt>
                <c:pt idx="6">
                  <c:v>53</c:v>
                </c:pt>
                <c:pt idx="7">
                  <c:v>55</c:v>
                </c:pt>
                <c:pt idx="8">
                  <c:v>63</c:v>
                </c:pt>
                <c:pt idx="9">
                  <c:v>57</c:v>
                </c:pt>
                <c:pt idx="10">
                  <c:v>64</c:v>
                </c:pt>
                <c:pt idx="11">
                  <c:v>72</c:v>
                </c:pt>
                <c:pt idx="12">
                  <c:v>60</c:v>
                </c:pt>
                <c:pt idx="13">
                  <c:v>51</c:v>
                </c:pt>
                <c:pt idx="14">
                  <c:v>65</c:v>
                </c:pt>
                <c:pt idx="15">
                  <c:v>62</c:v>
                </c:pt>
                <c:pt idx="16">
                  <c:v>53</c:v>
                </c:pt>
                <c:pt idx="17">
                  <c:v>52</c:v>
                </c:pt>
                <c:pt idx="18">
                  <c:v>58</c:v>
                </c:pt>
                <c:pt idx="19">
                  <c:v>58</c:v>
                </c:pt>
                <c:pt idx="20">
                  <c:v>64</c:v>
                </c:pt>
                <c:pt idx="21">
                  <c:v>61</c:v>
                </c:pt>
                <c:pt idx="22">
                  <c:v>74</c:v>
                </c:pt>
                <c:pt idx="23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FA1-48D9-9DF0-F721B3685A40}"/>
            </c:ext>
          </c:extLst>
        </c:ser>
        <c:ser>
          <c:idx val="3"/>
          <c:order val="3"/>
          <c:tx>
            <c:strRef>
              <c:f>'Задача 2'!$E$3:$E$4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2'!$E$5:$E$29</c:f>
              <c:numCache>
                <c:formatCode>General</c:formatCode>
                <c:ptCount val="24"/>
                <c:pt idx="0">
                  <c:v>27</c:v>
                </c:pt>
                <c:pt idx="1">
                  <c:v>35</c:v>
                </c:pt>
                <c:pt idx="2">
                  <c:v>26</c:v>
                </c:pt>
                <c:pt idx="3">
                  <c:v>28</c:v>
                </c:pt>
                <c:pt idx="4">
                  <c:v>38</c:v>
                </c:pt>
                <c:pt idx="5">
                  <c:v>26</c:v>
                </c:pt>
                <c:pt idx="6">
                  <c:v>37</c:v>
                </c:pt>
                <c:pt idx="7">
                  <c:v>30</c:v>
                </c:pt>
                <c:pt idx="8">
                  <c:v>35</c:v>
                </c:pt>
                <c:pt idx="9">
                  <c:v>35</c:v>
                </c:pt>
                <c:pt idx="10">
                  <c:v>44</c:v>
                </c:pt>
                <c:pt idx="11">
                  <c:v>40</c:v>
                </c:pt>
                <c:pt idx="12">
                  <c:v>33</c:v>
                </c:pt>
                <c:pt idx="13">
                  <c:v>45</c:v>
                </c:pt>
                <c:pt idx="14">
                  <c:v>33</c:v>
                </c:pt>
                <c:pt idx="15">
                  <c:v>49</c:v>
                </c:pt>
                <c:pt idx="16">
                  <c:v>32</c:v>
                </c:pt>
                <c:pt idx="17">
                  <c:v>42</c:v>
                </c:pt>
                <c:pt idx="18">
                  <c:v>38</c:v>
                </c:pt>
                <c:pt idx="19">
                  <c:v>30</c:v>
                </c:pt>
                <c:pt idx="20">
                  <c:v>34</c:v>
                </c:pt>
                <c:pt idx="21">
                  <c:v>35</c:v>
                </c:pt>
                <c:pt idx="22">
                  <c:v>45</c:v>
                </c:pt>
                <c:pt idx="2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FA1-48D9-9DF0-F721B3685A40}"/>
            </c:ext>
          </c:extLst>
        </c:ser>
        <c:ser>
          <c:idx val="4"/>
          <c:order val="4"/>
          <c:tx>
            <c:strRef>
              <c:f>'Задача 2'!$F$3:$F$4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2'!$F$5:$F$29</c:f>
              <c:numCache>
                <c:formatCode>General</c:formatCode>
                <c:ptCount val="24"/>
                <c:pt idx="0">
                  <c:v>42</c:v>
                </c:pt>
                <c:pt idx="1">
                  <c:v>40</c:v>
                </c:pt>
                <c:pt idx="2">
                  <c:v>54</c:v>
                </c:pt>
                <c:pt idx="3">
                  <c:v>32</c:v>
                </c:pt>
                <c:pt idx="4">
                  <c:v>37</c:v>
                </c:pt>
                <c:pt idx="5">
                  <c:v>48</c:v>
                </c:pt>
                <c:pt idx="6">
                  <c:v>53</c:v>
                </c:pt>
                <c:pt idx="7">
                  <c:v>49</c:v>
                </c:pt>
                <c:pt idx="8">
                  <c:v>45</c:v>
                </c:pt>
                <c:pt idx="9">
                  <c:v>48</c:v>
                </c:pt>
                <c:pt idx="10">
                  <c:v>35</c:v>
                </c:pt>
                <c:pt idx="11">
                  <c:v>46</c:v>
                </c:pt>
                <c:pt idx="12">
                  <c:v>50</c:v>
                </c:pt>
                <c:pt idx="13">
                  <c:v>47</c:v>
                </c:pt>
                <c:pt idx="14">
                  <c:v>47</c:v>
                </c:pt>
                <c:pt idx="15">
                  <c:v>47</c:v>
                </c:pt>
                <c:pt idx="16">
                  <c:v>60</c:v>
                </c:pt>
                <c:pt idx="17">
                  <c:v>56</c:v>
                </c:pt>
                <c:pt idx="18">
                  <c:v>44</c:v>
                </c:pt>
                <c:pt idx="19">
                  <c:v>51</c:v>
                </c:pt>
                <c:pt idx="20">
                  <c:v>46</c:v>
                </c:pt>
                <c:pt idx="21">
                  <c:v>57</c:v>
                </c:pt>
                <c:pt idx="22">
                  <c:v>41</c:v>
                </c:pt>
                <c:pt idx="23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FA1-48D9-9DF0-F721B3685A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42369696"/>
        <c:axId val="1342373024"/>
      </c:lineChart>
      <c:catAx>
        <c:axId val="13423696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Время суток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42373024"/>
        <c:crosses val="autoZero"/>
        <c:auto val="1"/>
        <c:lblAlgn val="ctr"/>
        <c:lblOffset val="100"/>
        <c:noMultiLvlLbl val="0"/>
      </c:catAx>
      <c:valAx>
        <c:axId val="1342373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Количество транзакций</a:t>
                </a:r>
              </a:p>
            </c:rich>
          </c:tx>
          <c:layout>
            <c:manualLayout>
              <c:xMode val="edge"/>
              <c:yMode val="edge"/>
              <c:x val="1.0613379811579915E-2"/>
              <c:y val="0.1715706012290255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42369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 (домашняя работа).xlsx]Задача 2!Сводная таблица5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500" b="0" i="0" baseline="0" dirty="0">
                <a:effectLst/>
              </a:rPr>
              <a:t>Динамика среднего времени обработки платежей по серверам</a:t>
            </a:r>
            <a:endParaRPr lang="ru-RU" sz="15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'Задача 2'!$B$66:$B$67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2'!$A$68:$A$92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2'!$B$68:$B$92</c:f>
              <c:numCache>
                <c:formatCode>General</c:formatCode>
                <c:ptCount val="24"/>
                <c:pt idx="0">
                  <c:v>174.11329910948712</c:v>
                </c:pt>
                <c:pt idx="1">
                  <c:v>163.332031625323</c:v>
                </c:pt>
                <c:pt idx="2">
                  <c:v>158.88629693974508</c:v>
                </c:pt>
                <c:pt idx="3">
                  <c:v>229.57233228720725</c:v>
                </c:pt>
                <c:pt idx="4">
                  <c:v>204.44544293638319</c:v>
                </c:pt>
                <c:pt idx="5">
                  <c:v>255.24490202361767</c:v>
                </c:pt>
                <c:pt idx="6">
                  <c:v>218.92225941410288</c:v>
                </c:pt>
                <c:pt idx="7">
                  <c:v>168.05249165442973</c:v>
                </c:pt>
                <c:pt idx="8">
                  <c:v>182.65385282167699</c:v>
                </c:pt>
                <c:pt idx="9">
                  <c:v>175.5822123830622</c:v>
                </c:pt>
                <c:pt idx="10">
                  <c:v>184.1288500232622</c:v>
                </c:pt>
                <c:pt idx="11">
                  <c:v>176.33044847725824</c:v>
                </c:pt>
                <c:pt idx="12">
                  <c:v>167.97717689138176</c:v>
                </c:pt>
                <c:pt idx="13">
                  <c:v>188.69799410281502</c:v>
                </c:pt>
                <c:pt idx="14">
                  <c:v>172.17041899304604</c:v>
                </c:pt>
                <c:pt idx="15">
                  <c:v>181.28263763937866</c:v>
                </c:pt>
                <c:pt idx="16">
                  <c:v>180.51906757451513</c:v>
                </c:pt>
                <c:pt idx="17">
                  <c:v>174.06222983738598</c:v>
                </c:pt>
                <c:pt idx="18">
                  <c:v>179.90113990012239</c:v>
                </c:pt>
                <c:pt idx="19">
                  <c:v>149.36739846598357</c:v>
                </c:pt>
                <c:pt idx="20">
                  <c:v>187.75519163202262</c:v>
                </c:pt>
                <c:pt idx="21">
                  <c:v>182.21170140237993</c:v>
                </c:pt>
                <c:pt idx="22">
                  <c:v>195.63714303996761</c:v>
                </c:pt>
                <c:pt idx="23">
                  <c:v>192.76051621020932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E2-4462-AC55-244BB1DE407D}"/>
            </c:ext>
          </c:extLst>
        </c:ser>
        <c:ser>
          <c:idx val="1"/>
          <c:order val="1"/>
          <c:tx>
            <c:strRef>
              <c:f>'Задача 2'!$C$66:$C$67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2'!$A$68:$A$92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2'!$C$68:$C$92</c:f>
              <c:numCache>
                <c:formatCode>General</c:formatCode>
                <c:ptCount val="24"/>
                <c:pt idx="0">
                  <c:v>86.507277672849398</c:v>
                </c:pt>
                <c:pt idx="1">
                  <c:v>88.265350438437309</c:v>
                </c:pt>
                <c:pt idx="2">
                  <c:v>83.669876594917454</c:v>
                </c:pt>
                <c:pt idx="3">
                  <c:v>89.993142603319697</c:v>
                </c:pt>
                <c:pt idx="4">
                  <c:v>87.289175158937923</c:v>
                </c:pt>
                <c:pt idx="5">
                  <c:v>84.794897993013961</c:v>
                </c:pt>
                <c:pt idx="6">
                  <c:v>82.442627421447213</c:v>
                </c:pt>
                <c:pt idx="7">
                  <c:v>87.184424774022773</c:v>
                </c:pt>
                <c:pt idx="8">
                  <c:v>92.712635555468069</c:v>
                </c:pt>
                <c:pt idx="9">
                  <c:v>86.719907649437431</c:v>
                </c:pt>
                <c:pt idx="10">
                  <c:v>81.623381253198858</c:v>
                </c:pt>
                <c:pt idx="11">
                  <c:v>160.37349547664886</c:v>
                </c:pt>
                <c:pt idx="12">
                  <c:v>163.6010618108316</c:v>
                </c:pt>
                <c:pt idx="13">
                  <c:v>162.42156492480248</c:v>
                </c:pt>
                <c:pt idx="14">
                  <c:v>154.95891880287203</c:v>
                </c:pt>
                <c:pt idx="15">
                  <c:v>160.23663775118834</c:v>
                </c:pt>
                <c:pt idx="16">
                  <c:v>83.875950435841716</c:v>
                </c:pt>
                <c:pt idx="17">
                  <c:v>81.199407939276938</c:v>
                </c:pt>
                <c:pt idx="18">
                  <c:v>85.924357140262785</c:v>
                </c:pt>
                <c:pt idx="19">
                  <c:v>98.382577484834101</c:v>
                </c:pt>
                <c:pt idx="20">
                  <c:v>93.898038735185466</c:v>
                </c:pt>
                <c:pt idx="21">
                  <c:v>85.969118771831845</c:v>
                </c:pt>
                <c:pt idx="22">
                  <c:v>79.915881261168678</c:v>
                </c:pt>
                <c:pt idx="23">
                  <c:v>92.20709669441635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E2-4462-AC55-244BB1DE407D}"/>
            </c:ext>
          </c:extLst>
        </c:ser>
        <c:ser>
          <c:idx val="2"/>
          <c:order val="2"/>
          <c:tx>
            <c:strRef>
              <c:f>'Задача 2'!$D$66:$D$67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2'!$A$68:$A$92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2'!$D$68:$D$92</c:f>
              <c:numCache>
                <c:formatCode>General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E2-4462-AC55-244BB1DE40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6191056"/>
        <c:axId val="906169840"/>
      </c:lineChart>
      <c:catAx>
        <c:axId val="9061910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Время суток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6169840"/>
        <c:crosses val="autoZero"/>
        <c:auto val="1"/>
        <c:lblAlgn val="ctr"/>
        <c:lblOffset val="100"/>
        <c:noMultiLvlLbl val="0"/>
      </c:catAx>
      <c:valAx>
        <c:axId val="906169840"/>
        <c:scaling>
          <c:orientation val="minMax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Среднее время </a:t>
                </a:r>
              </a:p>
              <a:p>
                <a:pPr>
                  <a:defRPr/>
                </a:pPr>
                <a:r>
                  <a:rPr lang="ru-RU" sz="1200" dirty="0"/>
                  <a:t>обработки платежа</a:t>
                </a:r>
              </a:p>
            </c:rich>
          </c:tx>
          <c:layout>
            <c:manualLayout>
              <c:xMode val="edge"/>
              <c:yMode val="edge"/>
              <c:x val="1.2988296011243161E-2"/>
              <c:y val="0.267452164745786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6191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 (домашняя работа).xlsx]Задача 2!Сводная таблица6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500" b="0" i="0" baseline="0" dirty="0">
                <a:effectLst/>
              </a:rPr>
              <a:t>Динамика среднего времени обработки платежей по платежным системам</a:t>
            </a:r>
            <a:endParaRPr lang="ru-RU" sz="15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'Задача 2'!$B$98:$B$99</c:f>
              <c:strCache>
                <c:ptCount val="1"/>
                <c:pt idx="0">
                  <c:v>MasterCard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2'!$A$100:$A$124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2'!$B$100:$B$124</c:f>
              <c:numCache>
                <c:formatCode>General</c:formatCode>
                <c:ptCount val="24"/>
                <c:pt idx="0">
                  <c:v>98.004942738997016</c:v>
                </c:pt>
                <c:pt idx="1">
                  <c:v>104.50348966902024</c:v>
                </c:pt>
                <c:pt idx="2">
                  <c:v>106.63820033892989</c:v>
                </c:pt>
                <c:pt idx="3">
                  <c:v>105.07509346974835</c:v>
                </c:pt>
                <c:pt idx="4">
                  <c:v>109.98871595779013</c:v>
                </c:pt>
                <c:pt idx="5">
                  <c:v>136.83009870350361</c:v>
                </c:pt>
                <c:pt idx="6">
                  <c:v>121.09515341243853</c:v>
                </c:pt>
                <c:pt idx="7">
                  <c:v>111.68732674307545</c:v>
                </c:pt>
                <c:pt idx="8">
                  <c:v>122.78747376269446</c:v>
                </c:pt>
                <c:pt idx="9">
                  <c:v>103.87442401393359</c:v>
                </c:pt>
                <c:pt idx="10">
                  <c:v>97.818573527312012</c:v>
                </c:pt>
                <c:pt idx="11">
                  <c:v>152.14204047146569</c:v>
                </c:pt>
                <c:pt idx="12">
                  <c:v>144.9174364897892</c:v>
                </c:pt>
                <c:pt idx="13">
                  <c:v>153.34645864013584</c:v>
                </c:pt>
                <c:pt idx="14">
                  <c:v>161.04652635216459</c:v>
                </c:pt>
                <c:pt idx="15">
                  <c:v>156.1599844214206</c:v>
                </c:pt>
                <c:pt idx="16">
                  <c:v>109.99185800050887</c:v>
                </c:pt>
                <c:pt idx="17">
                  <c:v>108.34328806959093</c:v>
                </c:pt>
                <c:pt idx="18">
                  <c:v>128.29759712965989</c:v>
                </c:pt>
                <c:pt idx="19">
                  <c:v>145.87931551955521</c:v>
                </c:pt>
                <c:pt idx="20">
                  <c:v>153.02663714319351</c:v>
                </c:pt>
                <c:pt idx="21">
                  <c:v>136.87760263384706</c:v>
                </c:pt>
                <c:pt idx="22">
                  <c:v>135.73066582426154</c:v>
                </c:pt>
                <c:pt idx="23">
                  <c:v>160.97159491443375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C7-4B9E-8C9B-80B01E98141E}"/>
            </c:ext>
          </c:extLst>
        </c:ser>
        <c:ser>
          <c:idx val="1"/>
          <c:order val="1"/>
          <c:tx>
            <c:strRef>
              <c:f>'Задача 2'!$C$98:$C$99</c:f>
              <c:strCache>
                <c:ptCount val="1"/>
                <c:pt idx="0">
                  <c:v>Visa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2'!$A$100:$A$124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2'!$C$100:$C$124</c:f>
              <c:numCache>
                <c:formatCode>General</c:formatCode>
                <c:ptCount val="24"/>
                <c:pt idx="0">
                  <c:v>113.9331184584354</c:v>
                </c:pt>
                <c:pt idx="1">
                  <c:v>118.51813853942215</c:v>
                </c:pt>
                <c:pt idx="2">
                  <c:v>106.28921470564345</c:v>
                </c:pt>
                <c:pt idx="3">
                  <c:v>122.74794969940558</c:v>
                </c:pt>
                <c:pt idx="4">
                  <c:v>120.90261769535149</c:v>
                </c:pt>
                <c:pt idx="5">
                  <c:v>133.52976570505712</c:v>
                </c:pt>
                <c:pt idx="6">
                  <c:v>125.25377968268003</c:v>
                </c:pt>
                <c:pt idx="7">
                  <c:v>105.52373028282697</c:v>
                </c:pt>
                <c:pt idx="8">
                  <c:v>111.12034194321544</c:v>
                </c:pt>
                <c:pt idx="9">
                  <c:v>110.74600171757665</c:v>
                </c:pt>
                <c:pt idx="10">
                  <c:v>107.80457725307761</c:v>
                </c:pt>
                <c:pt idx="11">
                  <c:v>152.08407824366904</c:v>
                </c:pt>
                <c:pt idx="12">
                  <c:v>149.76138902303879</c:v>
                </c:pt>
                <c:pt idx="13">
                  <c:v>166.64078854600808</c:v>
                </c:pt>
                <c:pt idx="14">
                  <c:v>148.33432658670063</c:v>
                </c:pt>
                <c:pt idx="15">
                  <c:v>159.87263613443992</c:v>
                </c:pt>
                <c:pt idx="16">
                  <c:v>109.55382721005734</c:v>
                </c:pt>
                <c:pt idx="17">
                  <c:v>111.96749041449617</c:v>
                </c:pt>
                <c:pt idx="18">
                  <c:v>113.06782551270364</c:v>
                </c:pt>
                <c:pt idx="19">
                  <c:v>104.15490594127083</c:v>
                </c:pt>
                <c:pt idx="20">
                  <c:v>106.89762774152014</c:v>
                </c:pt>
                <c:pt idx="21">
                  <c:v>112.89883423057135</c:v>
                </c:pt>
                <c:pt idx="22">
                  <c:v>111.73753200564533</c:v>
                </c:pt>
                <c:pt idx="23">
                  <c:v>113.96886988826279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C7-4B9E-8C9B-80B01E98141E}"/>
            </c:ext>
          </c:extLst>
        </c:ser>
        <c:ser>
          <c:idx val="2"/>
          <c:order val="2"/>
          <c:tx>
            <c:strRef>
              <c:f>'Задача 2'!$D$98:$D$99</c:f>
              <c:strCache>
                <c:ptCount val="1"/>
                <c:pt idx="0">
                  <c:v>МИР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2'!$A$100:$A$124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'Задача 2'!$D$100:$D$124</c:f>
              <c:numCache>
                <c:formatCode>General</c:formatCode>
                <c:ptCount val="24"/>
                <c:pt idx="0">
                  <c:v>109.11751151738216</c:v>
                </c:pt>
                <c:pt idx="1">
                  <c:v>90.833559767037755</c:v>
                </c:pt>
                <c:pt idx="2">
                  <c:v>102.10764815244053</c:v>
                </c:pt>
                <c:pt idx="3">
                  <c:v>150.70751505810767</c:v>
                </c:pt>
                <c:pt idx="4">
                  <c:v>129.44478819306607</c:v>
                </c:pt>
                <c:pt idx="5">
                  <c:v>123.9528373095461</c:v>
                </c:pt>
                <c:pt idx="6">
                  <c:v>118.58414526738714</c:v>
                </c:pt>
                <c:pt idx="7">
                  <c:v>90.217914395034313</c:v>
                </c:pt>
                <c:pt idx="8">
                  <c:v>103.99905512665188</c:v>
                </c:pt>
                <c:pt idx="9">
                  <c:v>108.91658192813338</c:v>
                </c:pt>
                <c:pt idx="10">
                  <c:v>117.58953381911851</c:v>
                </c:pt>
                <c:pt idx="11">
                  <c:v>148.02394873945963</c:v>
                </c:pt>
                <c:pt idx="12">
                  <c:v>162.95781722778815</c:v>
                </c:pt>
                <c:pt idx="13">
                  <c:v>146.71497822112948</c:v>
                </c:pt>
                <c:pt idx="14">
                  <c:v>138.1733808879662</c:v>
                </c:pt>
                <c:pt idx="15">
                  <c:v>144.86004912606595</c:v>
                </c:pt>
                <c:pt idx="16">
                  <c:v>117.52828556396391</c:v>
                </c:pt>
                <c:pt idx="17">
                  <c:v>119.6862743133679</c:v>
                </c:pt>
                <c:pt idx="18">
                  <c:v>97.626264247362712</c:v>
                </c:pt>
                <c:pt idx="19">
                  <c:v>108.14739344193815</c:v>
                </c:pt>
                <c:pt idx="20">
                  <c:v>107.86299420726776</c:v>
                </c:pt>
                <c:pt idx="21">
                  <c:v>117.94039858068572</c:v>
                </c:pt>
                <c:pt idx="22">
                  <c:v>103.57064268590041</c:v>
                </c:pt>
                <c:pt idx="23">
                  <c:v>100.77668904725995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1C7-4B9E-8C9B-80B01E9814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6177744"/>
        <c:axId val="906178576"/>
      </c:lineChart>
      <c:catAx>
        <c:axId val="9061777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Время суток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6178576"/>
        <c:crosses val="autoZero"/>
        <c:auto val="1"/>
        <c:lblAlgn val="ctr"/>
        <c:lblOffset val="100"/>
        <c:noMultiLvlLbl val="0"/>
      </c:catAx>
      <c:valAx>
        <c:axId val="906178576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Средне  время </a:t>
                </a:r>
              </a:p>
              <a:p>
                <a:pPr>
                  <a:defRPr/>
                </a:pPr>
                <a:r>
                  <a:rPr lang="ru-RU" sz="1200" dirty="0"/>
                  <a:t>обработки платежа</a:t>
                </a:r>
              </a:p>
            </c:rich>
          </c:tx>
          <c:layout>
            <c:manualLayout>
              <c:xMode val="edge"/>
              <c:yMode val="edge"/>
              <c:x val="1.2150156803992139E-2"/>
              <c:y val="0.251940563133028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6177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 (домашняя работа).xlsx]Задача 1!Сводная таблица1</c:name>
    <c:fmtId val="4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 dirty="0"/>
          </a:p>
          <a:p>
            <a:pPr>
              <a:defRPr/>
            </a:pPr>
            <a:r>
              <a:rPr lang="ru-RU" dirty="0"/>
              <a:t>Динамика средней длительности транзакций на сервере 1 с 0 до 9 часов</a:t>
            </a:r>
          </a:p>
          <a:p>
            <a:pPr>
              <a:defRPr/>
            </a:pP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'Задача 1'!$C$4</c:f>
              <c:strCache>
                <c:ptCount val="1"/>
                <c:pt idx="0">
                  <c:v>Среднее по полю length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'Задача 1'!$A$5:$A$8</c:f>
              <c:strCache>
                <c:ptCount val="3"/>
                <c:pt idx="0">
                  <c:v>5 сент.</c:v>
                </c:pt>
                <c:pt idx="1">
                  <c:v>6 сент.</c:v>
                </c:pt>
                <c:pt idx="2">
                  <c:v>7 сент.</c:v>
                </c:pt>
              </c:strCache>
            </c:strRef>
          </c:cat>
          <c:val>
            <c:numRef>
              <c:f>'Задача 1'!$C$5:$C$8</c:f>
              <c:numCache>
                <c:formatCode>0.00</c:formatCode>
                <c:ptCount val="3"/>
                <c:pt idx="0">
                  <c:v>139.92796609547162</c:v>
                </c:pt>
                <c:pt idx="1">
                  <c:v>98.869090915445909</c:v>
                </c:pt>
                <c:pt idx="2">
                  <c:v>97.499005949665346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EE-492A-B675-73DC38584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89157359"/>
        <c:axId val="1690239151"/>
      </c:barChart>
      <c:lineChart>
        <c:grouping val="standard"/>
        <c:varyColors val="0"/>
        <c:ser>
          <c:idx val="0"/>
          <c:order val="0"/>
          <c:tx>
            <c:strRef>
              <c:f>'Задача 1'!$B$4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'Задача 1'!$A$5:$A$8</c:f>
              <c:strCache>
                <c:ptCount val="3"/>
                <c:pt idx="0">
                  <c:v>5 сент.</c:v>
                </c:pt>
                <c:pt idx="1">
                  <c:v>6 сент.</c:v>
                </c:pt>
                <c:pt idx="2">
                  <c:v>7 сент.</c:v>
                </c:pt>
              </c:strCache>
            </c:strRef>
          </c:cat>
          <c:val>
            <c:numRef>
              <c:f>'Задача 1'!$B$5:$B$8</c:f>
              <c:numCache>
                <c:formatCode>0.00</c:formatCode>
                <c:ptCount val="3"/>
                <c:pt idx="0">
                  <c:v>472</c:v>
                </c:pt>
                <c:pt idx="1">
                  <c:v>550</c:v>
                </c:pt>
                <c:pt idx="2">
                  <c:v>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EE-492A-B675-73DC38584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5937999"/>
        <c:axId val="1425642879"/>
      </c:lineChart>
      <c:catAx>
        <c:axId val="20891573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90239151"/>
        <c:crosses val="autoZero"/>
        <c:auto val="1"/>
        <c:lblAlgn val="ctr"/>
        <c:lblOffset val="100"/>
        <c:noMultiLvlLbl val="0"/>
      </c:catAx>
      <c:valAx>
        <c:axId val="1690239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Длительность транзакций, сек.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89157359"/>
        <c:crosses val="autoZero"/>
        <c:crossBetween val="between"/>
      </c:valAx>
      <c:valAx>
        <c:axId val="142564287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35937999"/>
        <c:crosses val="max"/>
        <c:crossBetween val="between"/>
      </c:valAx>
      <c:catAx>
        <c:axId val="143593799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256428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 (домашняя работа).xlsx]Задача 1!Сводная таблица2</c:name>
    <c:fmtId val="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 sz="600" b="0" i="0" baseline="0" dirty="0">
              <a:effectLst/>
            </a:endParaRPr>
          </a:p>
          <a:p>
            <a:pPr>
              <a:defRPr/>
            </a:pPr>
            <a:r>
              <a:rPr lang="ru-RU" sz="1400" b="0" i="0" baseline="0" dirty="0">
                <a:effectLst/>
              </a:rPr>
              <a:t>Динамика средней длительности транзакций при покупках на обычных кассах</a:t>
            </a:r>
            <a:r>
              <a:rPr lang="en-US" sz="1400" b="0" i="0" baseline="0" dirty="0">
                <a:effectLst/>
              </a:rPr>
              <a:t> </a:t>
            </a:r>
            <a:r>
              <a:rPr lang="ru-RU" sz="1400" b="0" i="0" baseline="0" dirty="0">
                <a:effectLst/>
              </a:rPr>
              <a:t>на сервере 2 с 12 до 13 часов </a:t>
            </a:r>
          </a:p>
          <a:p>
            <a:pPr>
              <a:defRPr/>
            </a:pPr>
            <a:endParaRPr lang="ru-RU" sz="6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'Задача 1'!$C$25</c:f>
              <c:strCache>
                <c:ptCount val="1"/>
                <c:pt idx="0">
                  <c:v>Среднее по полю length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'Задача 1'!$A$26:$A$29</c:f>
              <c:strCache>
                <c:ptCount val="3"/>
                <c:pt idx="0">
                  <c:v>5 сент.</c:v>
                </c:pt>
                <c:pt idx="1">
                  <c:v>6 сент.</c:v>
                </c:pt>
                <c:pt idx="2">
                  <c:v>7 сент.</c:v>
                </c:pt>
              </c:strCache>
            </c:strRef>
          </c:cat>
          <c:val>
            <c:numRef>
              <c:f>'Задача 1'!$C$26:$C$29</c:f>
              <c:numCache>
                <c:formatCode>0.00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EE-4D21-9C88-79609C0E13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2838527"/>
        <c:axId val="52836447"/>
      </c:barChart>
      <c:lineChart>
        <c:grouping val="standard"/>
        <c:varyColors val="0"/>
        <c:ser>
          <c:idx val="0"/>
          <c:order val="0"/>
          <c:tx>
            <c:strRef>
              <c:f>'Задача 1'!$B$25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'Задача 1'!$A$26:$A$29</c:f>
              <c:strCache>
                <c:ptCount val="3"/>
                <c:pt idx="0">
                  <c:v>5 сент.</c:v>
                </c:pt>
                <c:pt idx="1">
                  <c:v>6 сент.</c:v>
                </c:pt>
                <c:pt idx="2">
                  <c:v>7 сент.</c:v>
                </c:pt>
              </c:strCache>
            </c:strRef>
          </c:cat>
          <c:val>
            <c:numRef>
              <c:f>'Задача 1'!$B$26:$B$29</c:f>
              <c:numCache>
                <c:formatCode>0.00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CEE-4D21-9C88-79609C0E13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835615"/>
        <c:axId val="52837279"/>
      </c:lineChart>
      <c:catAx>
        <c:axId val="528385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836447"/>
        <c:crosses val="autoZero"/>
        <c:auto val="1"/>
        <c:lblAlgn val="ctr"/>
        <c:lblOffset val="100"/>
        <c:noMultiLvlLbl val="0"/>
      </c:catAx>
      <c:valAx>
        <c:axId val="52836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baseline="0" dirty="0">
                    <a:effectLst/>
                  </a:rPr>
                  <a:t>Длительность транзакций, сек.</a:t>
                </a:r>
                <a:endParaRPr lang="ru-RU" sz="1200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838527"/>
        <c:crosses val="autoZero"/>
        <c:crossBetween val="between"/>
      </c:valAx>
      <c:valAx>
        <c:axId val="5283727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835615"/>
        <c:crosses val="max"/>
        <c:crossBetween val="between"/>
      </c:valAx>
      <c:catAx>
        <c:axId val="528356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28372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 (домашняя работа).xlsx]Задача 1!Сводная таблица3</c:name>
    <c:fmtId val="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baseline="0">
                <a:effectLst/>
              </a:rPr>
              <a:t>Динамика средней длительности транзакций при покупках на кассах самообслуживания с применением программы лояльности на сервере 1</a:t>
            </a:r>
            <a:endParaRPr lang="ru-RU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'Задача 1'!$C$45</c:f>
              <c:strCache>
                <c:ptCount val="1"/>
                <c:pt idx="0">
                  <c:v>Среднее по полю length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'Задача 1'!$A$46:$A$49</c:f>
              <c:strCache>
                <c:ptCount val="3"/>
                <c:pt idx="0">
                  <c:v>5 сент.</c:v>
                </c:pt>
                <c:pt idx="1">
                  <c:v>6 сент.</c:v>
                </c:pt>
                <c:pt idx="2">
                  <c:v>7 сент.</c:v>
                </c:pt>
              </c:strCache>
            </c:strRef>
          </c:cat>
          <c:val>
            <c:numRef>
              <c:f>'Задача 1'!$C$46:$C$49</c:f>
              <c:numCache>
                <c:formatCode>0.00</c:formatCode>
                <c:ptCount val="3"/>
                <c:pt idx="0">
                  <c:v>207.90849670986918</c:v>
                </c:pt>
                <c:pt idx="1">
                  <c:v>230.29468595860121</c:v>
                </c:pt>
                <c:pt idx="2">
                  <c:v>186.33333329583846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B2-4846-BC6E-0A40F660F9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2819391"/>
        <c:axId val="52817727"/>
      </c:barChart>
      <c:lineChart>
        <c:grouping val="standard"/>
        <c:varyColors val="0"/>
        <c:ser>
          <c:idx val="0"/>
          <c:order val="0"/>
          <c:tx>
            <c:strRef>
              <c:f>'Задача 1'!$B$45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'Задача 1'!$A$46:$A$49</c:f>
              <c:strCache>
                <c:ptCount val="3"/>
                <c:pt idx="0">
                  <c:v>5 сент.</c:v>
                </c:pt>
                <c:pt idx="1">
                  <c:v>6 сент.</c:v>
                </c:pt>
                <c:pt idx="2">
                  <c:v>7 сент.</c:v>
                </c:pt>
              </c:strCache>
            </c:strRef>
          </c:cat>
          <c:val>
            <c:numRef>
              <c:f>'Задача 1'!$B$46:$B$49</c:f>
              <c:numCache>
                <c:formatCode>0.00</c:formatCode>
                <c:ptCount val="3"/>
                <c:pt idx="0">
                  <c:v>153</c:v>
                </c:pt>
                <c:pt idx="1">
                  <c:v>207</c:v>
                </c:pt>
                <c:pt idx="2">
                  <c:v>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B2-4846-BC6E-0A40F660F9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824383"/>
        <c:axId val="52823135"/>
      </c:lineChart>
      <c:catAx>
        <c:axId val="528193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817727"/>
        <c:crosses val="autoZero"/>
        <c:auto val="1"/>
        <c:lblAlgn val="ctr"/>
        <c:lblOffset val="100"/>
        <c:noMultiLvlLbl val="0"/>
      </c:catAx>
      <c:valAx>
        <c:axId val="52817727"/>
        <c:scaling>
          <c:orientation val="minMax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baseline="0" dirty="0">
                    <a:effectLst/>
                  </a:rPr>
                  <a:t>Длительность транзакций, сек.</a:t>
                </a:r>
                <a:endParaRPr lang="ru-RU" sz="1200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819391"/>
        <c:crosses val="autoZero"/>
        <c:crossBetween val="between"/>
      </c:valAx>
      <c:valAx>
        <c:axId val="52823135"/>
        <c:scaling>
          <c:orientation val="minMax"/>
          <c:min val="1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824383"/>
        <c:crosses val="max"/>
        <c:crossBetween val="between"/>
      </c:valAx>
      <c:catAx>
        <c:axId val="528243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282313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 (домашняя работа).xlsx]Задача 2!Сводная таблица2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/>
              <a:t>Динамика среднего чека покупки</a:t>
            </a:r>
          </a:p>
          <a:p>
            <a:pPr>
              <a:defRPr/>
            </a:pPr>
            <a:endParaRPr lang="ru-RU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'Задача 2'!$C$3</c:f>
              <c:strCache>
                <c:ptCount val="1"/>
                <c:pt idx="0">
                  <c:v>Средний чек покупки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'Задача 2'!$A$4:$A$7</c:f>
              <c:strCache>
                <c:ptCount val="3"/>
                <c:pt idx="0">
                  <c:v>5 сент.</c:v>
                </c:pt>
                <c:pt idx="1">
                  <c:v>6 сент.</c:v>
                </c:pt>
                <c:pt idx="2">
                  <c:v>7 сент.</c:v>
                </c:pt>
              </c:strCache>
            </c:strRef>
          </c:cat>
          <c:val>
            <c:numRef>
              <c:f>'Задача 2'!$C$4:$C$7</c:f>
              <c:numCache>
                <c:formatCode>_("₽"* #,##0.00_);_("₽"* \(#,##0.00\);_("₽"* "-"??_);_(@_)</c:formatCode>
                <c:ptCount val="3"/>
                <c:pt idx="0">
                  <c:v>18458.94598583235</c:v>
                </c:pt>
                <c:pt idx="1">
                  <c:v>18401.787852619458</c:v>
                </c:pt>
                <c:pt idx="2">
                  <c:v>19914.488140556368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C6-4C84-9EAE-BAACECE8CC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78637136"/>
        <c:axId val="1278636720"/>
      </c:barChart>
      <c:lineChart>
        <c:grouping val="standard"/>
        <c:varyColors val="0"/>
        <c:ser>
          <c:idx val="0"/>
          <c:order val="0"/>
          <c:tx>
            <c:strRef>
              <c:f>'Задача 2'!$B$3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'Задача 2'!$A$4:$A$7</c:f>
              <c:strCache>
                <c:ptCount val="3"/>
                <c:pt idx="0">
                  <c:v>5 сент.</c:v>
                </c:pt>
                <c:pt idx="1">
                  <c:v>6 сент.</c:v>
                </c:pt>
                <c:pt idx="2">
                  <c:v>7 сент.</c:v>
                </c:pt>
              </c:strCache>
            </c:strRef>
          </c:cat>
          <c:val>
            <c:numRef>
              <c:f>'Задача 2'!$B$4:$B$7</c:f>
              <c:numCache>
                <c:formatCode>General</c:formatCode>
                <c:ptCount val="3"/>
                <c:pt idx="0">
                  <c:v>3388</c:v>
                </c:pt>
                <c:pt idx="1">
                  <c:v>3474</c:v>
                </c:pt>
                <c:pt idx="2">
                  <c:v>3415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C6-4C84-9EAE-BAACECE8CC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3712720"/>
        <c:axId val="1433721040"/>
      </c:lineChart>
      <c:catAx>
        <c:axId val="12786371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78636720"/>
        <c:crosses val="autoZero"/>
        <c:auto val="1"/>
        <c:lblAlgn val="ctr"/>
        <c:lblOffset val="100"/>
        <c:noMultiLvlLbl val="0"/>
      </c:catAx>
      <c:valAx>
        <c:axId val="1278636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Средний чек покупки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(&quot;₽&quot;* #,##0.00_);_(&quot;₽&quot;* \(#,##0.00\);_(&quot;₽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78637136"/>
        <c:crosses val="autoZero"/>
        <c:crossBetween val="between"/>
      </c:valAx>
      <c:valAx>
        <c:axId val="143372104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33712720"/>
        <c:crosses val="max"/>
        <c:crossBetween val="between"/>
      </c:valAx>
      <c:catAx>
        <c:axId val="14337127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3372104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225745301160987"/>
          <c:y val="0.41803182051151772"/>
          <c:w val="0.20740626094076209"/>
          <c:h val="0.18716317175114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>
          <a:alpha val="0"/>
        </a:schemeClr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[Transaction_list2 (домашняя работа).xlsx]Домашняя работа!Сводная таблица2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 sz="500" dirty="0"/>
          </a:p>
          <a:p>
            <a:pPr>
              <a:defRPr/>
            </a:pPr>
            <a:r>
              <a:rPr lang="ru-RU" sz="2000" dirty="0"/>
              <a:t>Потери </a:t>
            </a:r>
            <a:r>
              <a:rPr lang="ru-RU" sz="2000" baseline="0" dirty="0"/>
              <a:t>компании в разбивке по скидкам</a:t>
            </a:r>
          </a:p>
          <a:p>
            <a:pPr>
              <a:defRPr/>
            </a:pPr>
            <a:endParaRPr lang="ru-RU" sz="5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'Домашняя работа'!$B$15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1D9F6D6-E14D-4293-81A4-DAA0C20C2E63}" type="VALUE">
                      <a:rPr lang="en-US" b="1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EF4D-491A-A056-76EFA5BA54C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0409D47-F07C-4EBF-B13E-6D6C5FCBDB18}" type="VALUE">
                      <a:rPr lang="en-US" b="1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F4D-491A-A056-76EFA5BA54C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B306A6E-411F-4125-B04A-9AFD2556932A}" type="VALUE">
                      <a:rPr lang="en-US" b="1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F4D-491A-A056-76EFA5BA54C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6873223-7CB3-4F5E-993E-5DE2506432FF}" type="VALUE">
                      <a:rPr lang="en-US" b="1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F4D-491A-A056-76EFA5BA54C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'Домашняя работа'!$A$16:$A$20</c:f>
              <c:strCache>
                <c:ptCount val="4"/>
                <c:pt idx="0">
                  <c:v>1%</c:v>
                </c:pt>
                <c:pt idx="1">
                  <c:v>2%</c:v>
                </c:pt>
                <c:pt idx="2">
                  <c:v>3%</c:v>
                </c:pt>
                <c:pt idx="3">
                  <c:v>4%</c:v>
                </c:pt>
              </c:strCache>
            </c:strRef>
          </c:cat>
          <c:val>
            <c:numRef>
              <c:f>'Домашняя работа'!$B$16:$B$20</c:f>
              <c:numCache>
                <c:formatCode>_("₽"* #,##0.00_);_("₽"* \(#,##0.00\);_("₽"* "-"??_);_(@_)</c:formatCode>
                <c:ptCount val="4"/>
                <c:pt idx="0">
                  <c:v>246507.15988063108</c:v>
                </c:pt>
                <c:pt idx="1">
                  <c:v>730390.45374522125</c:v>
                </c:pt>
                <c:pt idx="2">
                  <c:v>1258800.7875509476</c:v>
                </c:pt>
                <c:pt idx="3">
                  <c:v>1765252.900704256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4D-491A-A056-76EFA5BA54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86836111"/>
        <c:axId val="1886832783"/>
      </c:barChart>
      <c:catAx>
        <c:axId val="18868361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Размер скидки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6832783"/>
        <c:crosses val="autoZero"/>
        <c:auto val="1"/>
        <c:lblAlgn val="ctr"/>
        <c:lblOffset val="100"/>
        <c:noMultiLvlLbl val="0"/>
      </c:catAx>
      <c:valAx>
        <c:axId val="1886832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500" dirty="0"/>
                  <a:t>Общая</a:t>
                </a:r>
                <a:r>
                  <a:rPr lang="ru-RU" sz="1500" baseline="0" dirty="0"/>
                  <a:t> с</a:t>
                </a:r>
                <a:r>
                  <a:rPr lang="ru-RU" sz="1500" dirty="0"/>
                  <a:t>умма скидок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(&quot;₽&quot;* #,##0.00_);_(&quot;₽&quot;* \(#,##0.00\);_(&quot;₽&quot;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6836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9CAF6-71C5-4A7D-B98D-0E1D29B1E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75ED54-7633-4345-83FB-8036B5A90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FD984A-EC13-4401-A8D3-E23C21FFD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EFD595-C51C-4489-B621-6C5AA72B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B0BDE4-9A3E-415D-9697-0894A248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80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580DF0-9755-4D63-AE60-1359679C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21C91A-8380-473A-823D-A007F9111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54B2AF-F5AE-4DEC-922D-F11DCA804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4355F7-0A05-41A7-83C1-AAA8D0C9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4475E8-52C0-4762-9ED1-6B5D311F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194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E5483-E911-47CC-832A-B786F754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3BD281-FAEC-4165-803D-D28E2FE16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7CC7F2-EAC1-4DF4-BF53-CE3F58C24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11136F-3F5A-4E33-BC86-F147BAE8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9CDF05-1695-40F0-A599-7AEE8D260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269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6FC86F-8D48-4755-A1B7-201230B8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8BF93C-AA61-4D3C-971C-25F01A7B9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C01327-8042-4823-ADBA-F51CCD450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8553F3-2A97-403D-AEC2-9E4CAD288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5D0F6E-8735-4F7E-A81F-7226EA5F0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66A424-6DCA-4DEE-8CAA-BAEC770E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61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5839A-A11F-410C-876E-4D67E5E8A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AE8F0A-F357-4785-8840-C39B95BDD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3EAEED-FA32-4A44-AC5E-004E23EC0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7C4874E-0018-4B07-A463-A2F06BDC2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ACB365-A500-45BC-8754-A9ED3855D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09377D3-5319-41E1-92D8-90A61F09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6D4C3D1-88D5-4B44-A226-1A8641F4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9212BF-1170-4DE4-8391-9FE61223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41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F32F2-4D9D-4A9C-B020-E70C78E5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550C8AA-A88A-4B1B-AAAA-91A8EF0F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256494-03FD-49C4-BC58-DA24A911C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3C7EF5-E67A-458E-AB16-5B23941B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721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833E8B1-F8A2-4EE6-B16B-3AB8EBD1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54795A-041D-4499-B557-B3F58B4D4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217789-6352-4E53-8A4C-400695F8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857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2BB5F9-F685-407F-B2A8-8D02572E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9E9A4B-C126-4B75-8B29-05561CD2A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E5BBA9-E072-4CF6-BDD3-371EA1A5D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3E5B4B-9927-40AC-80D4-AE5E33B2A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A4103B-5024-4AB3-8F8A-DF774BA7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F217EB-9744-4F2D-B919-151103B2F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36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9403C8-37F8-4437-9E7E-2134C7E4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809B94C-99DB-4A4F-9259-0E6A8169B7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D216E6-1369-46C0-9272-57F39D0B6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739ACB-DEEE-4507-974F-938C2DE2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CFA40A-C1A5-40AD-8182-E55935C1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2454EB-0716-461A-BBD0-CBDFC091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134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5B496-F147-48D5-9912-294BDB4E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F13FB7-D6EC-45A3-B41B-CAFA90BEE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0D7CC9-10E9-4983-A66D-171420A6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4D2B3B-4FFF-4207-9D5D-D8763A847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9E1E6-23F9-499D-A930-3E6E0795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9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9B25C16-7E43-452F-86DD-1503AA3EF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E97900-3885-4963-A14F-EAF6D200A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22587B-8BCA-48F4-9D0E-13B1CD64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FA3927-70BF-4B9D-A204-4BA710D5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092AE6-FD75-4F8F-9260-44613A9C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315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6C63D-9CA5-4C1E-A008-8F1A3DAA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446452-B506-48D0-8BCD-0674E65FE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0C50CB-7684-4F3E-B8CD-207F61313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3535-AF35-4B85-A889-C87899757D82}" type="datetimeFigureOut">
              <a:rPr lang="ru-RU" smtClean="0"/>
              <a:t>05.09.2025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40F9DF-FC1D-41D7-A8A5-CF018B83C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05080C-9173-4D4E-9FA4-46E792616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E9808-D2FE-4A04-B5BF-BB7F8D351B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20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chart" Target="../charts/char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5BE1F-4CC5-4658-9E59-E5FC4D455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1261" y="510111"/>
            <a:ext cx="10251883" cy="5628296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Анализ транзакций сети </a:t>
            </a:r>
            <a:r>
              <a:rPr lang="en-US" b="0" i="0" dirty="0" err="1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SkyCrossroads</a:t>
            </a:r>
            <a:br>
              <a:rPr lang="ru-RU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</a:br>
            <a:br>
              <a:rPr lang="ru-RU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</a:br>
            <a:r>
              <a:rPr lang="ru-RU" sz="40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за период с 1 по 7 сентября 2022 года</a:t>
            </a:r>
            <a:br>
              <a:rPr lang="ru-RU" sz="40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</a:br>
            <a:br>
              <a:rPr lang="ru-RU" sz="40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</a:br>
            <a:endParaRPr lang="ru-RU" sz="4000" dirty="0">
              <a:latin typeface="StratosSkyeng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63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242"/>
            <a:ext cx="10515600" cy="1325563"/>
          </a:xfrm>
        </p:spPr>
        <p:txBody>
          <a:bodyPr/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роста транзакций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D07CE9-C7EB-4C53-8C75-301B7D062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500" dirty="0"/>
              <a:t>Рост количества </a:t>
            </a:r>
          </a:p>
          <a:p>
            <a:pPr marL="0" indent="0">
              <a:buNone/>
            </a:pPr>
            <a:r>
              <a:rPr lang="ru-RU" sz="2500" dirty="0"/>
              <a:t>транзакций </a:t>
            </a:r>
          </a:p>
          <a:p>
            <a:pPr marL="0" indent="0">
              <a:buNone/>
            </a:pPr>
            <a:r>
              <a:rPr lang="ru-RU" sz="2500" dirty="0"/>
              <a:t>связан </a:t>
            </a:r>
          </a:p>
          <a:p>
            <a:pPr marL="0" indent="0">
              <a:buNone/>
            </a:pPr>
            <a:r>
              <a:rPr lang="ru-RU" sz="2500" dirty="0"/>
              <a:t>с открытием </a:t>
            </a:r>
          </a:p>
          <a:p>
            <a:pPr marL="0" indent="0">
              <a:buNone/>
            </a:pPr>
            <a:r>
              <a:rPr lang="ru-RU" sz="2500" dirty="0"/>
              <a:t>новой </a:t>
            </a:r>
          </a:p>
          <a:p>
            <a:pPr marL="0" indent="0">
              <a:buNone/>
            </a:pPr>
            <a:r>
              <a:rPr lang="ru-RU" sz="2500" dirty="0"/>
              <a:t>торговой точки</a:t>
            </a:r>
          </a:p>
          <a:p>
            <a:pPr marL="0" indent="0">
              <a:buNone/>
            </a:pPr>
            <a:endParaRPr lang="ru-RU" sz="2500" dirty="0"/>
          </a:p>
        </p:txBody>
      </p:sp>
      <p:graphicFrame>
        <p:nvGraphicFramePr>
          <p:cNvPr id="6" name="Объект 11">
            <a:extLst>
              <a:ext uri="{FF2B5EF4-FFF2-40B4-BE49-F238E27FC236}">
                <a16:creationId xmlns:a16="http://schemas.microsoft.com/office/drawing/2014/main" id="{8FF9421D-CAA1-481E-93D4-A87B6A4E49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26307"/>
              </p:ext>
            </p:extLst>
          </p:nvPr>
        </p:nvGraphicFramePr>
        <p:xfrm>
          <a:off x="3507828" y="1883980"/>
          <a:ext cx="7845971" cy="4292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6328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нагрузки на серверы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10C36F4E-C265-4170-BD55-E9E8A35E46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0083286"/>
              </p:ext>
            </p:extLst>
          </p:nvPr>
        </p:nvGraphicFramePr>
        <p:xfrm>
          <a:off x="429370" y="1924216"/>
          <a:ext cx="5452608" cy="3705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888E8799-ADFA-4B6A-84E6-43624260B5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4027059"/>
              </p:ext>
            </p:extLst>
          </p:nvPr>
        </p:nvGraphicFramePr>
        <p:xfrm>
          <a:off x="6220571" y="1924216"/>
          <a:ext cx="5542059" cy="3705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5737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операций, проходящих через кассы самообслуживания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483F1B-1BAC-418A-9316-4113B2028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559" y="1825624"/>
            <a:ext cx="11098923" cy="454364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2700" dirty="0"/>
          </a:p>
          <a:p>
            <a:pPr marL="0" indent="0">
              <a:buNone/>
            </a:pPr>
            <a:endParaRPr lang="ru-RU" sz="2700" dirty="0"/>
          </a:p>
          <a:p>
            <a:pPr marL="0" indent="0">
              <a:buNone/>
            </a:pPr>
            <a:r>
              <a:rPr lang="ru-RU" sz="2700" dirty="0"/>
              <a:t>Рост количества оплат через кассы самообслуживания привёл к увеличению среднего времени обработки платежа</a:t>
            </a:r>
          </a:p>
        </p:txBody>
      </p:sp>
      <p:graphicFrame>
        <p:nvGraphicFramePr>
          <p:cNvPr id="7" name="Объект 12">
            <a:extLst>
              <a:ext uri="{FF2B5EF4-FFF2-40B4-BE49-F238E27FC236}">
                <a16:creationId xmlns:a16="http://schemas.microsoft.com/office/drawing/2014/main" id="{42864964-A2CC-4F7D-990D-6E2E0226D4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4202354"/>
              </p:ext>
            </p:extLst>
          </p:nvPr>
        </p:nvGraphicFramePr>
        <p:xfrm>
          <a:off x="381663" y="1825623"/>
          <a:ext cx="5585585" cy="3605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0FD0A3E1-7F1A-476E-B2E5-0592C02A8D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5535152"/>
              </p:ext>
            </p:extLst>
          </p:nvPr>
        </p:nvGraphicFramePr>
        <p:xfrm>
          <a:off x="6209307" y="1825625"/>
          <a:ext cx="5601030" cy="3605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7976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длительности транзакций </a:t>
            </a:r>
            <a:b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</a:b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1 сентября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075BED1A-CA92-4363-9276-55F8E22115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2191263"/>
              </p:ext>
            </p:extLst>
          </p:nvPr>
        </p:nvGraphicFramePr>
        <p:xfrm>
          <a:off x="838200" y="1978572"/>
          <a:ext cx="10515600" cy="4359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77024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длительности транзакций </a:t>
            </a:r>
            <a:b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</a:b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1 сентября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ED9104-1928-4E1D-A930-0C4C1F8AD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ул. Щорса с 3 до 6 часов ночи – </a:t>
            </a:r>
          </a:p>
          <a:p>
            <a:pPr marL="0" indent="0">
              <a:buNone/>
            </a:pPr>
            <a:r>
              <a:rPr lang="ru-RU" sz="2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сбои в подключении к Интернету</a:t>
            </a:r>
          </a:p>
          <a:p>
            <a:r>
              <a:rPr lang="ru-RU" sz="2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пр-т Вернадского и Ленинский </a:t>
            </a:r>
          </a:p>
          <a:p>
            <a:pPr marL="0" indent="0">
              <a:buNone/>
            </a:pPr>
            <a:r>
              <a:rPr lang="ru-RU" sz="2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пр-т с 11 до 15 часов – </a:t>
            </a:r>
          </a:p>
          <a:p>
            <a:pPr marL="0" indent="0">
              <a:buNone/>
            </a:pPr>
            <a:r>
              <a:rPr lang="ru-RU" sz="2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маркетинговая акция</a:t>
            </a:r>
            <a:endParaRPr lang="ru-RU" sz="2200" dirty="0"/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2A65F93-5773-4545-97A8-7318FBFCFF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3028960"/>
              </p:ext>
            </p:extLst>
          </p:nvPr>
        </p:nvGraphicFramePr>
        <p:xfrm>
          <a:off x="5896303" y="1700761"/>
          <a:ext cx="6038194" cy="23916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4644254D-6941-4AEB-86CC-A42F86A290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6293801"/>
              </p:ext>
            </p:extLst>
          </p:nvPr>
        </p:nvGraphicFramePr>
        <p:xfrm>
          <a:off x="635876" y="4092412"/>
          <a:ext cx="4937234" cy="2356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DEDEE504-24D1-441B-B771-7F87E6CC05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0283772"/>
              </p:ext>
            </p:extLst>
          </p:nvPr>
        </p:nvGraphicFramePr>
        <p:xfrm>
          <a:off x="5834555" y="4092412"/>
          <a:ext cx="5515304" cy="2400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9577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влияния технических сбоев на транзакции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DD3866-1ABB-4A7B-BDF7-C601FAE3B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17" y="1825625"/>
            <a:ext cx="10776284" cy="4494964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endParaRPr lang="ru-RU" sz="2500" b="1" i="0" dirty="0">
              <a:solidFill>
                <a:srgbClr val="9900CC"/>
              </a:solidFill>
              <a:effectLst/>
              <a:latin typeface="StratosSkyeng"/>
            </a:endParaRPr>
          </a:p>
          <a:p>
            <a:pPr marL="0" indent="0" algn="l">
              <a:buNone/>
            </a:pPr>
            <a:r>
              <a:rPr lang="ru-RU" sz="2500" b="1" i="0" dirty="0">
                <a:solidFill>
                  <a:srgbClr val="9900CC"/>
                </a:solidFill>
                <a:effectLst/>
                <a:latin typeface="StratosSkyeng"/>
                <a:cs typeface="Times New Roman" panose="02020603050405020304" pitchFamily="18" charset="0"/>
              </a:rPr>
              <a:t>Сиреневый</a:t>
            </a:r>
            <a:r>
              <a:rPr lang="ru-RU" sz="25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 — сервер 1 </a:t>
            </a:r>
          </a:p>
          <a:p>
            <a:pPr marL="0" indent="0" algn="l">
              <a:buNone/>
            </a:pPr>
            <a:r>
              <a:rPr lang="ru-RU" sz="25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в период с 00:00 по 09:00 </a:t>
            </a:r>
          </a:p>
          <a:p>
            <a:pPr marL="0" indent="0" algn="l">
              <a:buNone/>
            </a:pPr>
            <a:r>
              <a:rPr lang="ru-RU" sz="25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в день 05.09.2022</a:t>
            </a:r>
          </a:p>
          <a:p>
            <a:pPr marL="0" indent="0" algn="l">
              <a:buNone/>
            </a:pPr>
            <a:r>
              <a:rPr lang="ru-RU" sz="2500" b="1" i="0" dirty="0">
                <a:solidFill>
                  <a:srgbClr val="FFC000"/>
                </a:solidFill>
                <a:effectLst/>
                <a:latin typeface="StratosSkyeng"/>
                <a:cs typeface="Times New Roman" panose="02020603050405020304" pitchFamily="18" charset="0"/>
              </a:rPr>
              <a:t>Оранжевый</a:t>
            </a:r>
            <a:r>
              <a:rPr lang="ru-RU" sz="25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 — сервер 2 </a:t>
            </a:r>
          </a:p>
          <a:p>
            <a:pPr marL="0" indent="0" algn="l">
              <a:buNone/>
            </a:pPr>
            <a:r>
              <a:rPr lang="ru-RU" sz="25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в период 12.00-13.00 </a:t>
            </a:r>
          </a:p>
          <a:p>
            <a:pPr marL="0" indent="0" algn="l">
              <a:buNone/>
            </a:pPr>
            <a:r>
              <a:rPr lang="ru-RU" sz="25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в день 07.09.2022</a:t>
            </a:r>
          </a:p>
          <a:p>
            <a:pPr marL="0" indent="0" algn="l">
              <a:buNone/>
            </a:pPr>
            <a:r>
              <a:rPr lang="ru-RU" sz="2500" b="1" i="0" dirty="0">
                <a:solidFill>
                  <a:srgbClr val="FF0000"/>
                </a:solidFill>
                <a:effectLst/>
                <a:latin typeface="StratosSkyeng"/>
                <a:cs typeface="Times New Roman" panose="02020603050405020304" pitchFamily="18" charset="0"/>
              </a:rPr>
              <a:t>Красный</a:t>
            </a:r>
            <a:r>
              <a:rPr lang="ru-RU" sz="25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 — сервер 1 </a:t>
            </a:r>
          </a:p>
          <a:p>
            <a:pPr marL="0" indent="0" algn="l">
              <a:buNone/>
            </a:pPr>
            <a:r>
              <a:rPr lang="ru-RU" sz="25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в течение всего дня </a:t>
            </a:r>
          </a:p>
          <a:p>
            <a:pPr marL="0" indent="0" algn="l">
              <a:buNone/>
            </a:pPr>
            <a:r>
              <a:rPr lang="ru-RU" sz="2500" b="0" i="0" dirty="0">
                <a:solidFill>
                  <a:srgbClr val="0F1119"/>
                </a:solidFill>
                <a:effectLst/>
                <a:latin typeface="StratosSkyeng"/>
                <a:cs typeface="Times New Roman" panose="02020603050405020304" pitchFamily="18" charset="0"/>
              </a:rPr>
              <a:t>06.09.2022</a:t>
            </a:r>
          </a:p>
          <a:p>
            <a:endParaRPr lang="ru-RU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FB48B9-1E21-4E77-8F81-3357D1807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712" y="2002394"/>
            <a:ext cx="7883469" cy="414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77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влияния технических сбоев на транзакции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DD3866-1ABB-4A7B-BDF7-C601FAE3B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17" y="1825625"/>
            <a:ext cx="10776284" cy="44949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Увеличение на 42,47%                                 Увеличение на 69,05%                              Увеличение на 23,59% </a:t>
            </a:r>
          </a:p>
          <a:p>
            <a:pPr marL="0" indent="0">
              <a:buNone/>
            </a:pP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906E247A-7927-4F67-84CC-DBA71D38A6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7947849"/>
              </p:ext>
            </p:extLst>
          </p:nvPr>
        </p:nvGraphicFramePr>
        <p:xfrm>
          <a:off x="279044" y="1909024"/>
          <a:ext cx="3819713" cy="3500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B8A1D5FE-D897-492A-8183-9FC3E66A4F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451099"/>
              </p:ext>
            </p:extLst>
          </p:nvPr>
        </p:nvGraphicFramePr>
        <p:xfrm>
          <a:off x="4142450" y="1970689"/>
          <a:ext cx="3907099" cy="3438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475CD565-8D5A-4D5E-BFF8-08208DC78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3837416"/>
              </p:ext>
            </p:extLst>
          </p:nvPr>
        </p:nvGraphicFramePr>
        <p:xfrm>
          <a:off x="7907312" y="1909024"/>
          <a:ext cx="4005644" cy="3500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07DD048-6C36-4BF7-8FE9-86A6592E65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629" y="6237605"/>
            <a:ext cx="5920740" cy="51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25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эффективности маркетинговой акции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DD3866-1ABB-4A7B-BDF7-C601FAE3B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17" y="1825625"/>
            <a:ext cx="10776284" cy="449496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ru-RU" sz="2500" b="1" i="0" dirty="0">
              <a:solidFill>
                <a:srgbClr val="9900CC"/>
              </a:solidFill>
              <a:effectLst/>
              <a:latin typeface="StratosSkyeng"/>
            </a:endParaRPr>
          </a:p>
          <a:p>
            <a:endParaRPr lang="ru-RU" b="1" dirty="0"/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EA1F13EA-870E-40A2-B7F3-941574438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904673"/>
              </p:ext>
            </p:extLst>
          </p:nvPr>
        </p:nvGraphicFramePr>
        <p:xfrm>
          <a:off x="764627" y="2036086"/>
          <a:ext cx="10696904" cy="3891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8452">
                  <a:extLst>
                    <a:ext uri="{9D8B030D-6E8A-4147-A177-3AD203B41FA5}">
                      <a16:colId xmlns:a16="http://schemas.microsoft.com/office/drawing/2014/main" val="3490252247"/>
                    </a:ext>
                  </a:extLst>
                </a:gridCol>
                <a:gridCol w="5348452">
                  <a:extLst>
                    <a:ext uri="{9D8B030D-6E8A-4147-A177-3AD203B41FA5}">
                      <a16:colId xmlns:a16="http://schemas.microsoft.com/office/drawing/2014/main" val="365102907"/>
                    </a:ext>
                  </a:extLst>
                </a:gridCol>
              </a:tblGrid>
              <a:tr h="3891747">
                <a:tc>
                  <a:txBody>
                    <a:bodyPr/>
                    <a:lstStyle/>
                    <a:p>
                      <a:pPr algn="ctr"/>
                      <a:endParaRPr lang="ru-RU" sz="3000" b="0" dirty="0">
                        <a:solidFill>
                          <a:schemeClr val="tx1"/>
                        </a:solidFill>
                        <a:latin typeface="StratosSkyeng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3000" b="0" dirty="0">
                          <a:solidFill>
                            <a:schemeClr val="tx1"/>
                          </a:solidFill>
                          <a:latin typeface="StratosSkyeng"/>
                          <a:cs typeface="Times New Roman" panose="02020603050405020304" pitchFamily="18" charset="0"/>
                        </a:rPr>
                        <a:t>Условия:</a:t>
                      </a:r>
                    </a:p>
                    <a:p>
                      <a:pPr algn="ctr"/>
                      <a:endParaRPr lang="ru-RU" sz="2500" b="0" dirty="0">
                        <a:solidFill>
                          <a:schemeClr val="tx1"/>
                        </a:solidFill>
                        <a:latin typeface="StratosSkyeng"/>
                        <a:cs typeface="Times New Roman" panose="02020603050405020304" pitchFamily="18" charset="0"/>
                      </a:endParaRPr>
                    </a:p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2500" b="0" dirty="0">
                          <a:solidFill>
                            <a:schemeClr val="tx1"/>
                          </a:solidFill>
                          <a:latin typeface="StratosSkyeng"/>
                          <a:cs typeface="Times New Roman" panose="02020603050405020304" pitchFamily="18" charset="0"/>
                        </a:rPr>
                        <a:t>весь день 7 сентября</a:t>
                      </a:r>
                    </a:p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endParaRPr lang="ru-RU" sz="2500" b="0" dirty="0">
                        <a:solidFill>
                          <a:schemeClr val="tx1"/>
                        </a:solidFill>
                        <a:latin typeface="StratosSkyeng"/>
                        <a:cs typeface="Times New Roman" panose="02020603050405020304" pitchFamily="18" charset="0"/>
                      </a:endParaRPr>
                    </a:p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2500" b="0" dirty="0">
                          <a:solidFill>
                            <a:schemeClr val="tx1"/>
                          </a:solidFill>
                          <a:latin typeface="StratosSkyeng"/>
                          <a:cs typeface="Times New Roman" panose="02020603050405020304" pitchFamily="18" charset="0"/>
                        </a:rPr>
                        <a:t>для предъявителей карты с программой лояльности</a:t>
                      </a:r>
                    </a:p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endParaRPr lang="ru-RU" sz="2500" b="0" dirty="0">
                        <a:solidFill>
                          <a:schemeClr val="tx1"/>
                        </a:solidFill>
                        <a:latin typeface="StratosSkyeng"/>
                        <a:cs typeface="Times New Roman" panose="02020603050405020304" pitchFamily="18" charset="0"/>
                      </a:endParaRPr>
                    </a:p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2500" b="0" dirty="0">
                          <a:solidFill>
                            <a:schemeClr val="tx1"/>
                          </a:solidFill>
                          <a:latin typeface="StratosSkyeng"/>
                          <a:cs typeface="Times New Roman" panose="02020603050405020304" pitchFamily="18" charset="0"/>
                        </a:rPr>
                        <a:t>покупка свыше 15 000 рублей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000" b="0" dirty="0">
                        <a:solidFill>
                          <a:schemeClr val="tx1"/>
                        </a:solidFill>
                        <a:latin typeface="StratosSkyeng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3000" b="0" dirty="0">
                          <a:solidFill>
                            <a:schemeClr val="tx1"/>
                          </a:solidFill>
                          <a:latin typeface="StratosSkyeng"/>
                          <a:cs typeface="Times New Roman" panose="02020603050405020304" pitchFamily="18" charset="0"/>
                        </a:rPr>
                        <a:t>Призы:</a:t>
                      </a:r>
                    </a:p>
                    <a:p>
                      <a:pPr algn="ctr"/>
                      <a:endParaRPr lang="ru-RU" sz="2500" b="0" dirty="0">
                        <a:solidFill>
                          <a:schemeClr val="tx1"/>
                        </a:solidFill>
                        <a:latin typeface="StratosSkyeng"/>
                        <a:cs typeface="Times New Roman" panose="02020603050405020304" pitchFamily="18" charset="0"/>
                      </a:endParaRPr>
                    </a:p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2500" b="0" dirty="0">
                          <a:solidFill>
                            <a:schemeClr val="tx1"/>
                          </a:solidFill>
                          <a:latin typeface="StratosSkyeng"/>
                          <a:cs typeface="Times New Roman" panose="02020603050405020304" pitchFamily="18" charset="0"/>
                        </a:rPr>
                        <a:t>5 человек по 50 000 рублей</a:t>
                      </a:r>
                    </a:p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endParaRPr lang="ru-RU" sz="2500" b="0" dirty="0">
                        <a:solidFill>
                          <a:schemeClr val="tx1"/>
                        </a:solidFill>
                        <a:latin typeface="StratosSkyeng"/>
                        <a:cs typeface="Times New Roman" panose="02020603050405020304" pitchFamily="18" charset="0"/>
                      </a:endParaRPr>
                    </a:p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2500" b="0" dirty="0">
                          <a:solidFill>
                            <a:schemeClr val="tx1"/>
                          </a:solidFill>
                          <a:latin typeface="StratosSkyeng"/>
                          <a:cs typeface="Times New Roman" panose="02020603050405020304" pitchFamily="18" charset="0"/>
                        </a:rPr>
                        <a:t>10 человек по 10 000 рублей</a:t>
                      </a:r>
                    </a:p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endParaRPr lang="ru-RU" sz="2500" b="0" dirty="0">
                        <a:solidFill>
                          <a:schemeClr val="tx1"/>
                        </a:solidFill>
                        <a:latin typeface="StratosSkyeng"/>
                        <a:cs typeface="Times New Roman" panose="02020603050405020304" pitchFamily="18" charset="0"/>
                      </a:endParaRPr>
                    </a:p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r>
                        <a:rPr lang="ru-RU" sz="2500" b="0" dirty="0">
                          <a:solidFill>
                            <a:schemeClr val="tx1"/>
                          </a:solidFill>
                          <a:latin typeface="StratosSkyeng"/>
                          <a:cs typeface="Times New Roman" panose="02020603050405020304" pitchFamily="18" charset="0"/>
                        </a:rPr>
                        <a:t>все остальные по 750 рублей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354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359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эффективности маркетинговой акции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DD3866-1ABB-4A7B-BDF7-C601FAE3B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047" y="1825625"/>
            <a:ext cx="10712669" cy="449496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ru-RU" sz="1500" b="1" i="0" dirty="0">
              <a:solidFill>
                <a:srgbClr val="9900CC"/>
              </a:solidFill>
              <a:effectLst/>
              <a:latin typeface="StratosSkyeng"/>
            </a:endParaRPr>
          </a:p>
          <a:p>
            <a:r>
              <a:rPr lang="ru-RU" sz="2500" dirty="0"/>
              <a:t>Увеличение среднего </a:t>
            </a:r>
          </a:p>
          <a:p>
            <a:pPr marL="0" indent="0">
              <a:buNone/>
            </a:pPr>
            <a:r>
              <a:rPr lang="ru-RU" sz="2500" dirty="0"/>
              <a:t>чека на </a:t>
            </a:r>
            <a:r>
              <a:rPr lang="ru-RU" sz="2500" b="1" dirty="0">
                <a:solidFill>
                  <a:srgbClr val="00B050"/>
                </a:solidFill>
              </a:rPr>
              <a:t>1 484,48 </a:t>
            </a:r>
            <a:r>
              <a:rPr lang="ru-RU" sz="25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₽</a:t>
            </a:r>
            <a:endParaRPr lang="ru-RU" sz="25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ru-RU" sz="2500" dirty="0"/>
              <a:t>или на </a:t>
            </a:r>
            <a:r>
              <a:rPr lang="ru-RU" sz="2500" b="1" dirty="0">
                <a:solidFill>
                  <a:srgbClr val="00B050"/>
                </a:solidFill>
              </a:rPr>
              <a:t>8,05%</a:t>
            </a:r>
          </a:p>
          <a:p>
            <a:pPr marL="0" indent="0">
              <a:buNone/>
            </a:pPr>
            <a:endParaRPr lang="ru-RU" sz="1500" dirty="0"/>
          </a:p>
          <a:p>
            <a:r>
              <a:rPr lang="ru-RU" sz="2500" dirty="0"/>
              <a:t>Прирост выручки -</a:t>
            </a:r>
          </a:p>
          <a:p>
            <a:pPr marL="0" indent="0">
              <a:buNone/>
            </a:pPr>
            <a:r>
              <a:rPr lang="ru-RU" sz="2500" b="1" dirty="0">
                <a:solidFill>
                  <a:srgbClr val="00B050"/>
                </a:solidFill>
              </a:rPr>
              <a:t>5 069 497,14 </a:t>
            </a:r>
            <a:r>
              <a:rPr lang="ru-RU" sz="25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₽</a:t>
            </a:r>
          </a:p>
          <a:p>
            <a:pPr marL="0" indent="0">
              <a:buNone/>
            </a:pPr>
            <a:endParaRPr lang="ru-RU" sz="1500" dirty="0"/>
          </a:p>
          <a:p>
            <a:r>
              <a:rPr lang="ru-RU" sz="2500" dirty="0"/>
              <a:t>Прибыль от проведения </a:t>
            </a:r>
          </a:p>
          <a:p>
            <a:pPr marL="0" indent="0">
              <a:buNone/>
            </a:pPr>
            <a:r>
              <a:rPr lang="ru-RU" sz="2500" dirty="0"/>
              <a:t>акции – </a:t>
            </a:r>
            <a:r>
              <a:rPr lang="ru-RU" sz="2500" b="1" dirty="0">
                <a:solidFill>
                  <a:srgbClr val="00B050"/>
                </a:solidFill>
              </a:rPr>
              <a:t>2 650 997,14 </a:t>
            </a:r>
            <a:r>
              <a:rPr lang="ru-RU" sz="25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₽</a:t>
            </a:r>
            <a:endParaRPr lang="ru-RU" sz="2500" b="1" dirty="0">
              <a:solidFill>
                <a:srgbClr val="00B050"/>
              </a:solidFill>
            </a:endParaRP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AB21CF78-4A49-4F09-BBC1-841059BEEFC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9234120"/>
              </p:ext>
            </p:extLst>
          </p:nvPr>
        </p:nvGraphicFramePr>
        <p:xfrm>
          <a:off x="5115911" y="1943866"/>
          <a:ext cx="6450724" cy="43767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84761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Анализ программы лояльности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DD3866-1ABB-4A7B-BDF7-C601FAE3B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565" y="1825625"/>
            <a:ext cx="10652235" cy="46672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500" dirty="0"/>
              <a:t>Средняя потеря компании на одну транзакцию – 131,65 ₽</a:t>
            </a:r>
          </a:p>
          <a:p>
            <a:pPr marL="0" indent="0">
              <a:buNone/>
            </a:pPr>
            <a:endParaRPr lang="ru-RU" sz="2500" dirty="0"/>
          </a:p>
          <a:p>
            <a:endParaRPr lang="ru-RU" sz="2500" dirty="0"/>
          </a:p>
          <a:p>
            <a:endParaRPr lang="ru-RU" sz="2500" dirty="0"/>
          </a:p>
          <a:p>
            <a:endParaRPr lang="ru-RU" sz="2500" dirty="0"/>
          </a:p>
          <a:p>
            <a:endParaRPr lang="ru-RU" sz="2500" dirty="0"/>
          </a:p>
          <a:p>
            <a:endParaRPr lang="ru-RU" sz="2500" dirty="0"/>
          </a:p>
          <a:p>
            <a:endParaRPr lang="ru-RU" sz="1000" dirty="0"/>
          </a:p>
          <a:p>
            <a:pPr marL="0" indent="0" algn="ctr">
              <a:buNone/>
            </a:pPr>
            <a:r>
              <a:rPr lang="ru-RU" sz="2500" dirty="0"/>
              <a:t>При снижении размера скидок свыше 3% на 1 процентный пункт – 115,04 ₽</a:t>
            </a:r>
          </a:p>
          <a:p>
            <a:pPr marL="0" indent="0" algn="ctr">
              <a:buNone/>
            </a:pPr>
            <a:r>
              <a:rPr lang="ru-RU" sz="2500" dirty="0"/>
              <a:t>Уменьшение потерь бизнеса на 12,62%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D23EEAB0-F916-4288-816B-9A5057F6E1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5141379"/>
              </p:ext>
            </p:extLst>
          </p:nvPr>
        </p:nvGraphicFramePr>
        <p:xfrm>
          <a:off x="2944472" y="2249016"/>
          <a:ext cx="5829038" cy="3048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97880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Построение </a:t>
            </a:r>
            <a:r>
              <a:rPr lang="ru-RU" b="0" i="0" dirty="0" err="1">
                <a:solidFill>
                  <a:srgbClr val="242D34"/>
                </a:solidFill>
                <a:effectLst/>
                <a:latin typeface="StratosSkyeng"/>
              </a:rPr>
              <a:t>дашбордов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7E79D7D-EECD-4B63-B181-AAA53CB10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61" y="1919288"/>
            <a:ext cx="11459277" cy="4317352"/>
          </a:xfrm>
        </p:spPr>
      </p:pic>
    </p:spTree>
    <p:extLst>
      <p:ext uri="{BB962C8B-B14F-4D97-AF65-F5344CB8AC3E}">
        <p14:creationId xmlns:p14="http://schemas.microsoft.com/office/powerpoint/2010/main" val="599197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Построение </a:t>
            </a:r>
            <a:r>
              <a:rPr lang="ru-RU" b="0" i="0" dirty="0" err="1">
                <a:solidFill>
                  <a:srgbClr val="242D34"/>
                </a:solidFill>
                <a:effectLst/>
                <a:latin typeface="StratosSkyeng"/>
              </a:rPr>
              <a:t>дашбордов</a:t>
            </a:r>
            <a:endParaRPr lang="ru-RU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9D7A7FC9-859F-4AEB-82A7-7366642D4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42" y="1839709"/>
            <a:ext cx="10862116" cy="4159069"/>
          </a:xfrm>
        </p:spPr>
      </p:pic>
    </p:spTree>
    <p:extLst>
      <p:ext uri="{BB962C8B-B14F-4D97-AF65-F5344CB8AC3E}">
        <p14:creationId xmlns:p14="http://schemas.microsoft.com/office/powerpoint/2010/main" val="1644384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F64AB-08F1-4828-B02A-8070F6D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Отчет-калькулятор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FE64CB8-4260-492F-AF08-7089C6061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08" y="2081048"/>
            <a:ext cx="11031186" cy="3862552"/>
          </a:xfrm>
        </p:spPr>
      </p:pic>
    </p:spTree>
    <p:extLst>
      <p:ext uri="{BB962C8B-B14F-4D97-AF65-F5344CB8AC3E}">
        <p14:creationId xmlns:p14="http://schemas.microsoft.com/office/powerpoint/2010/main" val="33218335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456</Words>
  <Application>Microsoft Office PowerPoint</Application>
  <PresentationFormat>Широкоэкранный</PresentationFormat>
  <Paragraphs>153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StratosSkyeng</vt:lpstr>
      <vt:lpstr>Тема Office</vt:lpstr>
      <vt:lpstr>Анализ транзакций сети SkyCrossroads  за период с 1 по 7 сентября 2022 года  </vt:lpstr>
      <vt:lpstr>Анализ роста транзакций</vt:lpstr>
      <vt:lpstr>Анализ нагрузки на серверы</vt:lpstr>
      <vt:lpstr>Анализ операций, проходящих через кассы самообслуживания</vt:lpstr>
      <vt:lpstr>Анализ длительности транзакций  1 сентября</vt:lpstr>
      <vt:lpstr>Анализ длительности транзакций  1 сентября</vt:lpstr>
      <vt:lpstr>Анализ влияния технических сбоев на транзакции</vt:lpstr>
      <vt:lpstr>Анализ влияния технических сбоев на транзакции</vt:lpstr>
      <vt:lpstr>Анализ эффективности маркетинговой акции</vt:lpstr>
      <vt:lpstr>Анализ эффективности маркетинговой акции</vt:lpstr>
      <vt:lpstr>Анализ программы лояльности</vt:lpstr>
      <vt:lpstr>Построение дашбордов</vt:lpstr>
      <vt:lpstr>Построение дашбордов</vt:lpstr>
      <vt:lpstr>Отчет-калькулятор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Vera</dc:creator>
  <cp:lastModifiedBy>Vera</cp:lastModifiedBy>
  <cp:revision>44</cp:revision>
  <dcterms:created xsi:type="dcterms:W3CDTF">2025-08-24T15:37:15Z</dcterms:created>
  <dcterms:modified xsi:type="dcterms:W3CDTF">2025-09-05T18:24:43Z</dcterms:modified>
</cp:coreProperties>
</file>