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Ex1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8" r:id="rId4"/>
    <p:sldId id="271" r:id="rId5"/>
    <p:sldId id="261" r:id="rId6"/>
    <p:sldId id="272" r:id="rId7"/>
    <p:sldId id="262" r:id="rId8"/>
    <p:sldId id="276" r:id="rId9"/>
    <p:sldId id="264" r:id="rId10"/>
    <p:sldId id="274" r:id="rId11"/>
    <p:sldId id="275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 varScale="1">
        <p:scale>
          <a:sx n="97" d="100"/>
          <a:sy n="97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4.%20&#1054;&#1089;&#1085;&#1086;&#1074;&#1099;%20SQL\7.%20&#1058;&#1047;%20&#1076;&#1083;&#1103;%20&#1072;&#1085;&#1072;&#1083;&#1080;&#1090;&#1080;&#1082;&#1072;%20-%20&#1073;&#1072;&#1079;&#1086;&#1074;&#1099;&#1077;%20&#1084;&#1077;&#1090;&#1088;&#1080;&#1082;&#1080;%20&#1080;%20&#1082;&#1086;&#1075;&#1086;&#1088;&#1090;&#1085;&#1099;&#1081;%20&#1072;&#1085;&#1072;&#1083;&#1080;&#1079;%20&#1080;&#1075;&#1088;&#1099;\&#1044;&#1080;&#1085;&#1072;&#1084;&#1080;&#1082;&#1072;%20&#1087;&#1086;&#1083;&#1100;&#1079;&#1086;&#1074;&#1072;&#1090;&#1077;&#1083;&#1100;&#1089;&#1082;&#1086;&#1081;%20&#1073;&#1072;&#1079;&#109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4.%20&#1054;&#1089;&#1085;&#1086;&#1074;&#1099;%20SQL\7.%20&#1058;&#1047;%20&#1076;&#1083;&#1103;%20&#1072;&#1085;&#1072;&#1083;&#1080;&#1090;&#1080;&#1082;&#1072;%20-%20&#1073;&#1072;&#1079;&#1086;&#1074;&#1099;&#1077;%20&#1084;&#1077;&#1090;&#1088;&#1080;&#1082;&#1080;%20&#1080;%20&#1082;&#1086;&#1075;&#1086;&#1088;&#1090;&#1085;&#1099;&#1081;%20&#1072;&#1085;&#1072;&#1083;&#1080;&#1079;%20&#1080;&#1075;&#1088;&#1099;\&#1044;&#1080;&#1085;&#1072;&#1084;&#1080;&#1082;&#1072;%20&#1089;&#1088;&#1077;&#1076;&#1085;&#1077;&#1081;%20&#1076;&#1083;&#1080;&#1090;&#1077;&#1083;&#1100;&#1085;&#1086;&#1089;&#1090;&#1080;%20&#1086;&#1076;&#1085;&#1086;&#1081;%20&#1080;&#1075;&#1088;&#1086;&#1074;&#1086;&#1081;%20&#1089;&#1077;&#1089;&#1089;&#1080;&#108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4.%20&#1054;&#1089;&#1085;&#1086;&#1074;&#1099;%20SQL\7.%20&#1058;&#1047;%20&#1076;&#1083;&#1103;%20&#1072;&#1085;&#1072;&#1083;&#1080;&#1090;&#1080;&#1082;&#1072;%20-%20&#1073;&#1072;&#1079;&#1086;&#1074;&#1099;&#1077;%20&#1084;&#1077;&#1090;&#1088;&#1080;&#1082;&#1080;%20&#1080;%20&#1082;&#1086;&#1075;&#1086;&#1088;&#1090;&#1085;&#1099;&#1081;%20&#1072;&#1085;&#1072;&#1083;&#1080;&#1079;%20&#1080;&#1075;&#1088;&#1099;\&#1056;&#1072;&#1089;&#1095;&#1077;&#1090;%20&#1084;&#1077;&#1090;&#1088;&#1080;&#108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4.%20&#1054;&#1089;&#1085;&#1086;&#1074;&#1099;%20SQL\7.%20&#1058;&#1047;%20&#1076;&#1083;&#1103;%20&#1072;&#1085;&#1072;&#1083;&#1080;&#1090;&#1080;&#1082;&#1072;%20-%20&#1073;&#1072;&#1079;&#1086;&#1074;&#1099;&#1077;%20&#1084;&#1077;&#1090;&#1088;&#1080;&#1082;&#1080;%20&#1080;%20&#1082;&#1086;&#1075;&#1086;&#1088;&#1090;&#1085;&#1099;&#1081;%20&#1072;&#1085;&#1072;&#1083;&#1080;&#1079;%20&#1080;&#1075;&#1088;&#1099;\&#1056;&#1072;&#1089;&#1095;&#1077;&#1090;%20&#1084;&#1077;&#1090;&#1088;&#1080;&#108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4.%20&#1054;&#1089;&#1085;&#1086;&#1074;&#1099;%20SQL\11.%20&#1058;&#1047;%20&#1076;&#1083;&#1103;%20&#1072;&#1085;&#1072;&#1083;&#1080;&#1090;&#1080;&#1082;&#1072;%20-%20&#1072;&#1085;&#1072;&#1083;&#1080;&#1079;%20&#1076;&#1080;&#1085;&#1072;&#1084;&#1080;&#1082;&#1080;%20&#1074;&#1099;&#1088;&#1091;&#1095;&#1082;&#1080;%20&#1080;%20&#1087;&#1086;&#1074;&#1077;&#1076;&#1077;&#1085;&#1080;&#1103;%20&#1082;&#1083;&#1080;&#1077;&#1085;&#1090;&#1086;&#1074;\&#1047;&#1072;&#1076;&#1072;&#1095;&#1072;%2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0;&#1091;&#1088;&#1089;&#1086;&#1074;&#1072;&#1103;%20&#1088;&#1072;&#1073;&#1086;&#1090;&#1072;\&#1040;&#1085;&#1072;&#1083;&#1080;&#1079;%20&#1087;&#1086;&#1074;&#1099;&#1096;&#1077;&#1085;&#1080;&#1103;%20&#1094;&#1077;&#1085;&#1099;%20(&#1089;&#1083;&#1072;&#1081;&#1076;%206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0;&#1091;&#1088;&#1089;&#1086;&#1074;&#1072;&#1103;%20&#1088;&#1072;&#1073;&#1086;&#1090;&#1072;\&#1040;&#1085;&#1072;&#1083;&#1080;&#1079;%20&#1089;&#1088;&#1077;&#1076;&#1085;&#1080;&#1093;%20&#1087;&#1083;&#1072;&#1090;&#1077;&#1078;&#1077;&#1081;%20&#1087;&#1086;%20&#1082;&#1086;&#1075;&#1086;&#1088;&#1090;&#1072;&#1084;%20(&#1089;&#1083;&#1072;&#1081;&#1076;%207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0;&#1091;&#1088;&#1089;&#1086;&#1074;&#1072;&#1103;%20&#1088;&#1072;&#1073;&#1086;&#1090;&#1072;\&#1044;&#1080;&#1085;&#1072;&#1084;&#1080;&#1082;&#1072;%20&#1083;&#1086;&#1103;&#1083;&#1100;&#1085;&#1099;&#1093;%20&#1087;&#1086;&#1083;&#1100;&#1079;&#1086;&#1074;&#1072;&#1090;&#1077;&#1083;&#1077;&#1081;%20(&#1091;&#1089;&#1083;&#1086;&#1074;&#1080;&#1077;%201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0;&#1091;&#1088;&#1089;&#1086;&#1074;&#1072;&#1103;%20&#1088;&#1072;&#1073;&#1086;&#1090;&#1072;\&#1044;&#1080;&#1085;&#1072;&#1084;&#1080;&#1082;&#1072;%20&#1083;&#1086;&#1103;&#1083;&#1100;&#1085;&#1099;&#1093;%20&#1087;&#1086;&#1083;&#1100;&#1079;&#1086;&#1074;&#1072;&#1090;&#1077;&#1083;&#1077;&#1081;%20(&#1091;&#1089;&#1083;&#1086;&#1074;&#1080;&#1077;%202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0;&#1091;&#1088;&#1089;&#1086;&#1074;&#1072;&#1103;%20&#1088;&#1072;&#1073;&#1086;&#1090;&#1072;\&#1044;&#1080;&#1085;&#1072;&#1084;&#1080;&#1082;&#1072;%20&#1083;&#1086;&#1103;&#1083;&#1100;&#1085;&#1099;&#1093;%20&#1087;&#1086;&#1083;&#1100;&#1079;&#1086;&#1074;&#1072;&#1090;&#1077;&#1083;&#1077;&#1081;%20(2%20&#1091;&#1089;&#1083;&#1086;&#1074;&#1080;&#1103;%20&#1074;&#1084;&#1077;&#1089;&#1090;&#1077;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0;&#1091;&#1088;&#1089;&#1086;&#1074;&#1072;&#1103;%20&#1088;&#1072;&#1073;&#1086;&#1090;&#1072;\&#1044;&#1080;&#1085;&#1072;&#1084;&#1080;&#1082;&#1072;%20&#1083;&#1086;&#1103;&#1083;&#1100;&#1085;&#1099;&#1093;%20&#1087;&#1086;&#1083;&#1100;&#1079;&#1086;&#1074;&#1072;&#1090;&#1077;&#1083;&#1077;&#1081;%20(1%20&#1080;&#1079;%202%20&#1091;&#1089;&#1083;&#1086;&#1074;&#1080;&#1081;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Users\Vera\Desktop\&#1040;&#1085;&#1072;&#1083;&#1080;&#1090;&#1080;&#1082;&#1072;%20&#1076;&#1072;&#1085;&#1085;&#1099;&#1093;\&#1050;&#1091;&#1088;&#1089;&#1086;&#1074;&#1072;&#1103;%20&#1088;&#1072;&#1073;&#1086;&#1090;&#1072;\&#1056;&#1072;&#1089;&#1087;&#1088;&#1077;&#1076;&#1077;&#1083;&#1077;&#1085;&#1080;&#1077;%20&#1089;&#1088;&#1077;&#1076;&#1085;&#1080;&#1093;%20&#1074;&#1099;&#1087;&#1083;&#1072;&#1090;%20&#1079;&#1072;%20&#1086;&#1076;&#1080;&#1085;%20&#1084;&#1077;&#1089;&#1103;&#1094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tx1"/>
                </a:solidFill>
              </a:rPr>
              <a:t>Динамика увеличения пользовательской базы</a:t>
            </a:r>
            <a:endParaRPr lang="en-US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count_users</c:v>
                </c:pt>
              </c:strCache>
            </c:strRef>
          </c:tx>
          <c:spPr>
            <a:ln w="381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mmm\-yy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3C-49D8-9261-9AEFBF37119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10262624"/>
        <c:axId val="410263872"/>
      </c:lineChart>
      <c:dateAx>
        <c:axId val="410262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500" dirty="0">
                  <a:solidFill>
                    <a:schemeClr val="tx1"/>
                  </a:solidFill>
                </a:endParaRP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0263872"/>
        <c:crosses val="autoZero"/>
        <c:auto val="1"/>
        <c:lblOffset val="100"/>
        <c:baseTimeUnit val="months"/>
      </c:dateAx>
      <c:valAx>
        <c:axId val="410263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Количество новых игроков</a:t>
                </a: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ru-RU" sz="50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2.2727281765402754E-2"/>
              <c:y val="0.1939545909477356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026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b="0" i="0" u="none" strike="noStrike" baseline="0" dirty="0">
                <a:solidFill>
                  <a:schemeClr val="tx1"/>
                </a:solidFill>
                <a:effectLst/>
              </a:rPr>
              <a:t>Динамика средней длительности одной игровой сессии</a:t>
            </a:r>
            <a:endParaRPr lang="en-US" sz="2000" b="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запроса'!$C$1</c:f>
              <c:strCache>
                <c:ptCount val="1"/>
                <c:pt idx="0">
                  <c:v>agg_seconds</c:v>
                </c:pt>
              </c:strCache>
            </c:strRef>
          </c:tx>
          <c:spPr>
            <a:ln w="381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mmm\-yy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0.00</c:formatCode>
                <c:ptCount val="10"/>
                <c:pt idx="0">
                  <c:v>2.2188248095756258</c:v>
                </c:pt>
                <c:pt idx="1">
                  <c:v>2.3230326108181991</c:v>
                </c:pt>
                <c:pt idx="2">
                  <c:v>2.2760932944606416</c:v>
                </c:pt>
                <c:pt idx="3">
                  <c:v>2.3715035931453845</c:v>
                </c:pt>
                <c:pt idx="4">
                  <c:v>2.5163474328278799</c:v>
                </c:pt>
                <c:pt idx="5">
                  <c:v>2.731181917211329</c:v>
                </c:pt>
                <c:pt idx="6">
                  <c:v>2.3998779342723009</c:v>
                </c:pt>
                <c:pt idx="7">
                  <c:v>2.2895430218196791</c:v>
                </c:pt>
                <c:pt idx="8">
                  <c:v>5.5359777492511766</c:v>
                </c:pt>
                <c:pt idx="9">
                  <c:v>2.3343766060232296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EF-422A-BFCF-D171BB91E39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23396912"/>
        <c:axId val="1923397328"/>
      </c:lineChart>
      <c:dateAx>
        <c:axId val="19233969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500" dirty="0">
                  <a:solidFill>
                    <a:schemeClr val="tx1"/>
                  </a:solidFill>
                </a:endParaRP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23397328"/>
        <c:crosses val="autoZero"/>
        <c:auto val="1"/>
        <c:lblOffset val="100"/>
        <c:baseTimeUnit val="months"/>
      </c:dateAx>
      <c:valAx>
        <c:axId val="192339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Длительность сессии,</a:t>
                </a:r>
                <a:r>
                  <a:rPr lang="ru-RU" sz="1500" baseline="0" dirty="0">
                    <a:solidFill>
                      <a:schemeClr val="tx1"/>
                    </a:solidFill>
                  </a:rPr>
                  <a:t> час</a:t>
                </a: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ru-RU" sz="50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1.199338116457431E-2"/>
              <c:y val="0.231229656472604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23396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tx1"/>
                </a:solidFill>
              </a:rPr>
              <a:t>Динамика </a:t>
            </a:r>
            <a:r>
              <a:rPr lang="en-US" sz="2000" dirty="0">
                <a:solidFill>
                  <a:schemeClr val="tx1"/>
                </a:solidFill>
              </a:rPr>
              <a:t>DAU, WAU </a:t>
            </a:r>
            <a:r>
              <a:rPr lang="ru-RU" sz="2000" dirty="0">
                <a:solidFill>
                  <a:schemeClr val="tx1"/>
                </a:solidFill>
              </a:rPr>
              <a:t>и </a:t>
            </a:r>
            <a:r>
              <a:rPr lang="en-US" sz="2000" dirty="0">
                <a:solidFill>
                  <a:schemeClr val="tx1"/>
                </a:solidFill>
              </a:rPr>
              <a:t>MAU</a:t>
            </a:r>
            <a:endParaRPr lang="ru-RU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'Задание 1'!$C$1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'Задание 1'!$B$2:$B$304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'Задание 1'!$C$2:$C$304</c:f>
              <c:numCache>
                <c:formatCode>General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6A-4748-96D9-88A1A8661531}"/>
            </c:ext>
          </c:extLst>
        </c:ser>
        <c:ser>
          <c:idx val="1"/>
          <c:order val="1"/>
          <c:tx>
            <c:strRef>
              <c:f>'Задание 1'!$D$1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'Задание 1'!$B$2:$B$304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'Задание 1'!$D$2:$D$304</c:f>
              <c:numCache>
                <c:formatCode>General</c:formatCode>
                <c:ptCount val="303"/>
                <c:pt idx="0">
                  <c:v>6</c:v>
                </c:pt>
                <c:pt idx="1">
                  <c:v>6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92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133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183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202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193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201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206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192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196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205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213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208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207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204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201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213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214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203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202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156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153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141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190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233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272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295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346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340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347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384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611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712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772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656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661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699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614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545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6A-4748-96D9-88A1A8661531}"/>
            </c:ext>
          </c:extLst>
        </c:ser>
        <c:ser>
          <c:idx val="2"/>
          <c:order val="2"/>
          <c:tx>
            <c:strRef>
              <c:f>'Задание 1'!$E$1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'Задание 1'!$B$2:$B$304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'Задание 1'!$E$2:$E$304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6A-4748-96D9-88A1A8661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1667407"/>
        <c:axId val="1771660335"/>
      </c:lineChart>
      <c:dateAx>
        <c:axId val="17716674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500" dirty="0">
                  <a:solidFill>
                    <a:schemeClr val="tx1"/>
                  </a:solidFill>
                </a:endParaRP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1660335"/>
        <c:crosses val="autoZero"/>
        <c:auto val="1"/>
        <c:lblOffset val="100"/>
        <c:baseTimeUnit val="days"/>
      </c:dateAx>
      <c:valAx>
        <c:axId val="177166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Количество уникальных пользователей</a:t>
                </a:r>
              </a:p>
            </c:rich>
          </c:tx>
          <c:layout>
            <c:manualLayout>
              <c:xMode val="edge"/>
              <c:yMode val="edge"/>
              <c:x val="4.745540919734407E-3"/>
              <c:y val="0.1529209464734669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1667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Динамика</a:t>
            </a:r>
            <a:r>
              <a:rPr lang="en-US" sz="20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Sticky Factors</a:t>
            </a:r>
            <a:r>
              <a:rPr lang="ru-RU" sz="20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'Задание 1'!$F$1</c:f>
              <c:strCache>
                <c:ptCount val="1"/>
                <c:pt idx="0">
                  <c:v>SF (week)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'Задание 1'!$B$2:$B$304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'Задание 1'!$F$2:$F$304</c:f>
              <c:numCache>
                <c:formatCode>0.00000</c:formatCode>
                <c:ptCount val="303"/>
                <c:pt idx="0">
                  <c:v>0.5</c:v>
                </c:pt>
                <c:pt idx="1">
                  <c:v>1</c:v>
                </c:pt>
                <c:pt idx="2">
                  <c:v>8.4745762711864403E-2</c:v>
                </c:pt>
                <c:pt idx="3">
                  <c:v>0.16949152542372881</c:v>
                </c:pt>
                <c:pt idx="4">
                  <c:v>8.4745762711864403E-2</c:v>
                </c:pt>
                <c:pt idx="5">
                  <c:v>0.22033898305084745</c:v>
                </c:pt>
                <c:pt idx="6">
                  <c:v>0.3728813559322034</c:v>
                </c:pt>
                <c:pt idx="7">
                  <c:v>0.3728813559322034</c:v>
                </c:pt>
                <c:pt idx="8">
                  <c:v>0.44067796610169491</c:v>
                </c:pt>
                <c:pt idx="9">
                  <c:v>0.25</c:v>
                </c:pt>
                <c:pt idx="10">
                  <c:v>0.2608695652173913</c:v>
                </c:pt>
                <c:pt idx="11">
                  <c:v>0.32608695652173914</c:v>
                </c:pt>
                <c:pt idx="12">
                  <c:v>0.34782608695652173</c:v>
                </c:pt>
                <c:pt idx="13">
                  <c:v>0.27173913043478259</c:v>
                </c:pt>
                <c:pt idx="14">
                  <c:v>0.36956521739130432</c:v>
                </c:pt>
                <c:pt idx="15">
                  <c:v>0.42391304347826086</c:v>
                </c:pt>
                <c:pt idx="16">
                  <c:v>0.16541353383458646</c:v>
                </c:pt>
                <c:pt idx="17">
                  <c:v>0.2857142857142857</c:v>
                </c:pt>
                <c:pt idx="18">
                  <c:v>0.25563909774436089</c:v>
                </c:pt>
                <c:pt idx="19">
                  <c:v>0.37593984962406013</c:v>
                </c:pt>
                <c:pt idx="20">
                  <c:v>0.32330827067669171</c:v>
                </c:pt>
                <c:pt idx="21">
                  <c:v>0.32330827067669171</c:v>
                </c:pt>
                <c:pt idx="22">
                  <c:v>0.39849624060150374</c:v>
                </c:pt>
                <c:pt idx="23">
                  <c:v>0.34426229508196721</c:v>
                </c:pt>
                <c:pt idx="24">
                  <c:v>0.26229508196721313</c:v>
                </c:pt>
                <c:pt idx="25">
                  <c:v>0.32240437158469948</c:v>
                </c:pt>
                <c:pt idx="26">
                  <c:v>0.32240437158469948</c:v>
                </c:pt>
                <c:pt idx="27">
                  <c:v>0.33333333333333331</c:v>
                </c:pt>
                <c:pt idx="28">
                  <c:v>0.34972677595628415</c:v>
                </c:pt>
                <c:pt idx="29">
                  <c:v>0.34972677595628415</c:v>
                </c:pt>
                <c:pt idx="30">
                  <c:v>0.25742574257425743</c:v>
                </c:pt>
                <c:pt idx="31">
                  <c:v>0.30693069306930693</c:v>
                </c:pt>
                <c:pt idx="32">
                  <c:v>0.2722772277227723</c:v>
                </c:pt>
                <c:pt idx="33">
                  <c:v>0.29702970297029702</c:v>
                </c:pt>
                <c:pt idx="34">
                  <c:v>0.25742574257425743</c:v>
                </c:pt>
                <c:pt idx="35">
                  <c:v>0.30693069306930693</c:v>
                </c:pt>
                <c:pt idx="36">
                  <c:v>0.29207920792079206</c:v>
                </c:pt>
                <c:pt idx="37">
                  <c:v>0.30051813471502592</c:v>
                </c:pt>
                <c:pt idx="38">
                  <c:v>0.27461139896373055</c:v>
                </c:pt>
                <c:pt idx="39">
                  <c:v>0.28497409326424872</c:v>
                </c:pt>
                <c:pt idx="40">
                  <c:v>0.33678756476683935</c:v>
                </c:pt>
                <c:pt idx="41">
                  <c:v>0.27979274611398963</c:v>
                </c:pt>
                <c:pt idx="42">
                  <c:v>0.38341968911917096</c:v>
                </c:pt>
                <c:pt idx="43">
                  <c:v>0.30569948186528495</c:v>
                </c:pt>
                <c:pt idx="44">
                  <c:v>0.26865671641791045</c:v>
                </c:pt>
                <c:pt idx="45">
                  <c:v>0.3383084577114428</c:v>
                </c:pt>
                <c:pt idx="46">
                  <c:v>0.29353233830845771</c:v>
                </c:pt>
                <c:pt idx="47">
                  <c:v>0.30348258706467662</c:v>
                </c:pt>
                <c:pt idx="48">
                  <c:v>0.28855721393034828</c:v>
                </c:pt>
                <c:pt idx="49">
                  <c:v>0.33333333333333331</c:v>
                </c:pt>
                <c:pt idx="50">
                  <c:v>0.30845771144278605</c:v>
                </c:pt>
                <c:pt idx="51">
                  <c:v>0.25728155339805825</c:v>
                </c:pt>
                <c:pt idx="52">
                  <c:v>0.29126213592233008</c:v>
                </c:pt>
                <c:pt idx="53">
                  <c:v>0.32524271844660196</c:v>
                </c:pt>
                <c:pt idx="54">
                  <c:v>0.32524271844660196</c:v>
                </c:pt>
                <c:pt idx="55">
                  <c:v>0.29611650485436891</c:v>
                </c:pt>
                <c:pt idx="56">
                  <c:v>0.30582524271844658</c:v>
                </c:pt>
                <c:pt idx="57">
                  <c:v>0.29611650485436891</c:v>
                </c:pt>
                <c:pt idx="58">
                  <c:v>0.28125</c:v>
                </c:pt>
                <c:pt idx="59">
                  <c:v>0.375</c:v>
                </c:pt>
                <c:pt idx="60">
                  <c:v>0.28125</c:v>
                </c:pt>
                <c:pt idx="61">
                  <c:v>0.34375</c:v>
                </c:pt>
                <c:pt idx="62">
                  <c:v>0.31770833333333331</c:v>
                </c:pt>
                <c:pt idx="63">
                  <c:v>0.30208333333333331</c:v>
                </c:pt>
                <c:pt idx="64">
                  <c:v>0.33333333333333331</c:v>
                </c:pt>
                <c:pt idx="65">
                  <c:v>0.31632653061224492</c:v>
                </c:pt>
                <c:pt idx="66">
                  <c:v>0.23469387755102042</c:v>
                </c:pt>
                <c:pt idx="67">
                  <c:v>0.25</c:v>
                </c:pt>
                <c:pt idx="68">
                  <c:v>0.30102040816326531</c:v>
                </c:pt>
                <c:pt idx="69">
                  <c:v>0.30612244897959184</c:v>
                </c:pt>
                <c:pt idx="70">
                  <c:v>0.27040816326530615</c:v>
                </c:pt>
                <c:pt idx="71">
                  <c:v>0.31122448979591838</c:v>
                </c:pt>
                <c:pt idx="72">
                  <c:v>0.28292682926829266</c:v>
                </c:pt>
                <c:pt idx="73">
                  <c:v>0.31219512195121951</c:v>
                </c:pt>
                <c:pt idx="74">
                  <c:v>0.31707317073170732</c:v>
                </c:pt>
                <c:pt idx="75">
                  <c:v>0.36097560975609755</c:v>
                </c:pt>
                <c:pt idx="76">
                  <c:v>0.28292682926829266</c:v>
                </c:pt>
                <c:pt idx="77">
                  <c:v>0.30243902439024389</c:v>
                </c:pt>
                <c:pt idx="78">
                  <c:v>0.33658536585365856</c:v>
                </c:pt>
                <c:pt idx="79">
                  <c:v>0.30985915492957744</c:v>
                </c:pt>
                <c:pt idx="80">
                  <c:v>0.31455399061032863</c:v>
                </c:pt>
                <c:pt idx="81">
                  <c:v>0.33333333333333331</c:v>
                </c:pt>
                <c:pt idx="82">
                  <c:v>0.31455399061032863</c:v>
                </c:pt>
                <c:pt idx="83">
                  <c:v>0.25821596244131456</c:v>
                </c:pt>
                <c:pt idx="84">
                  <c:v>0.27230046948356806</c:v>
                </c:pt>
                <c:pt idx="85">
                  <c:v>0.34272300469483569</c:v>
                </c:pt>
                <c:pt idx="86">
                  <c:v>0.27884615384615385</c:v>
                </c:pt>
                <c:pt idx="87">
                  <c:v>0.36538461538461536</c:v>
                </c:pt>
                <c:pt idx="88">
                  <c:v>0.29807692307692307</c:v>
                </c:pt>
                <c:pt idx="89">
                  <c:v>0.31730769230769229</c:v>
                </c:pt>
                <c:pt idx="90">
                  <c:v>0.28365384615384615</c:v>
                </c:pt>
                <c:pt idx="91">
                  <c:v>0.29326923076923078</c:v>
                </c:pt>
                <c:pt idx="92">
                  <c:v>0.25</c:v>
                </c:pt>
                <c:pt idx="93">
                  <c:v>0.33333333333333331</c:v>
                </c:pt>
                <c:pt idx="94">
                  <c:v>0.33816425120772947</c:v>
                </c:pt>
                <c:pt idx="95">
                  <c:v>0.21739130434782608</c:v>
                </c:pt>
                <c:pt idx="96">
                  <c:v>0.3719806763285024</c:v>
                </c:pt>
                <c:pt idx="97">
                  <c:v>0.29468599033816423</c:v>
                </c:pt>
                <c:pt idx="98">
                  <c:v>0.27053140096618356</c:v>
                </c:pt>
                <c:pt idx="99">
                  <c:v>0.3188405797101449</c:v>
                </c:pt>
                <c:pt idx="100">
                  <c:v>0.25</c:v>
                </c:pt>
                <c:pt idx="101">
                  <c:v>0.28921568627450983</c:v>
                </c:pt>
                <c:pt idx="102">
                  <c:v>0.31862745098039214</c:v>
                </c:pt>
                <c:pt idx="103">
                  <c:v>0.25980392156862747</c:v>
                </c:pt>
                <c:pt idx="104">
                  <c:v>0.35294117647058826</c:v>
                </c:pt>
                <c:pt idx="105">
                  <c:v>0.30392156862745096</c:v>
                </c:pt>
                <c:pt idx="106">
                  <c:v>0.30392156862745096</c:v>
                </c:pt>
                <c:pt idx="107">
                  <c:v>0.34825870646766172</c:v>
                </c:pt>
                <c:pt idx="108">
                  <c:v>0.30845771144278605</c:v>
                </c:pt>
                <c:pt idx="109">
                  <c:v>0.4079601990049751</c:v>
                </c:pt>
                <c:pt idx="110">
                  <c:v>0.25870646766169153</c:v>
                </c:pt>
                <c:pt idx="111">
                  <c:v>0.32338308457711445</c:v>
                </c:pt>
                <c:pt idx="112">
                  <c:v>0.31840796019900497</c:v>
                </c:pt>
                <c:pt idx="113">
                  <c:v>0.28358208955223879</c:v>
                </c:pt>
                <c:pt idx="114">
                  <c:v>0.27230046948356806</c:v>
                </c:pt>
                <c:pt idx="115">
                  <c:v>0.30985915492957744</c:v>
                </c:pt>
                <c:pt idx="116">
                  <c:v>0.28169014084507044</c:v>
                </c:pt>
                <c:pt idx="117">
                  <c:v>0.25821596244131456</c:v>
                </c:pt>
                <c:pt idx="118">
                  <c:v>0.30516431924882631</c:v>
                </c:pt>
                <c:pt idx="119">
                  <c:v>0.25352112676056338</c:v>
                </c:pt>
                <c:pt idx="120">
                  <c:v>0.30985915492957744</c:v>
                </c:pt>
                <c:pt idx="121">
                  <c:v>0.3364485981308411</c:v>
                </c:pt>
                <c:pt idx="122">
                  <c:v>0.27102803738317754</c:v>
                </c:pt>
                <c:pt idx="123">
                  <c:v>0.2570093457943925</c:v>
                </c:pt>
                <c:pt idx="124">
                  <c:v>0.26168224299065418</c:v>
                </c:pt>
                <c:pt idx="125">
                  <c:v>0.29439252336448596</c:v>
                </c:pt>
                <c:pt idx="126">
                  <c:v>0.32242990654205606</c:v>
                </c:pt>
                <c:pt idx="127">
                  <c:v>0.28971962616822428</c:v>
                </c:pt>
                <c:pt idx="128">
                  <c:v>0.29556650246305421</c:v>
                </c:pt>
                <c:pt idx="129">
                  <c:v>0.29556650246305421</c:v>
                </c:pt>
                <c:pt idx="130">
                  <c:v>0.29556650246305421</c:v>
                </c:pt>
                <c:pt idx="131">
                  <c:v>0.27093596059113301</c:v>
                </c:pt>
                <c:pt idx="132">
                  <c:v>0.30541871921182268</c:v>
                </c:pt>
                <c:pt idx="133">
                  <c:v>0.26108374384236455</c:v>
                </c:pt>
                <c:pt idx="134">
                  <c:v>0.26600985221674878</c:v>
                </c:pt>
                <c:pt idx="135">
                  <c:v>0.22772277227722773</c:v>
                </c:pt>
                <c:pt idx="136">
                  <c:v>0.2722772277227723</c:v>
                </c:pt>
                <c:pt idx="137">
                  <c:v>0.25247524752475248</c:v>
                </c:pt>
                <c:pt idx="138">
                  <c:v>0.28712871287128711</c:v>
                </c:pt>
                <c:pt idx="139">
                  <c:v>0.25247524752475248</c:v>
                </c:pt>
                <c:pt idx="140">
                  <c:v>0.19801980198019803</c:v>
                </c:pt>
                <c:pt idx="141">
                  <c:v>0.24752475247524752</c:v>
                </c:pt>
                <c:pt idx="142">
                  <c:v>0.20359281437125748</c:v>
                </c:pt>
                <c:pt idx="143">
                  <c:v>0.24550898203592814</c:v>
                </c:pt>
                <c:pt idx="144">
                  <c:v>0.23353293413173654</c:v>
                </c:pt>
                <c:pt idx="145">
                  <c:v>0.19161676646706588</c:v>
                </c:pt>
                <c:pt idx="146">
                  <c:v>0.19161676646706588</c:v>
                </c:pt>
                <c:pt idx="147">
                  <c:v>0.18562874251497005</c:v>
                </c:pt>
                <c:pt idx="148">
                  <c:v>0.20958083832335328</c:v>
                </c:pt>
                <c:pt idx="149">
                  <c:v>0.20382165605095542</c:v>
                </c:pt>
                <c:pt idx="150">
                  <c:v>0.1464968152866242</c:v>
                </c:pt>
                <c:pt idx="151">
                  <c:v>0.22292993630573249</c:v>
                </c:pt>
                <c:pt idx="152">
                  <c:v>0.20382165605095542</c:v>
                </c:pt>
                <c:pt idx="153">
                  <c:v>0.15923566878980891</c:v>
                </c:pt>
                <c:pt idx="154">
                  <c:v>0.12101910828025478</c:v>
                </c:pt>
                <c:pt idx="155">
                  <c:v>0.19108280254777071</c:v>
                </c:pt>
                <c:pt idx="156">
                  <c:v>0.14743589743589744</c:v>
                </c:pt>
                <c:pt idx="157">
                  <c:v>0.20512820512820512</c:v>
                </c:pt>
                <c:pt idx="158">
                  <c:v>0.22435897435897437</c:v>
                </c:pt>
                <c:pt idx="159">
                  <c:v>0.1858974358974359</c:v>
                </c:pt>
                <c:pt idx="160">
                  <c:v>0.23076923076923078</c:v>
                </c:pt>
                <c:pt idx="161">
                  <c:v>0.19230769230769232</c:v>
                </c:pt>
                <c:pt idx="162">
                  <c:v>0.16025641025641027</c:v>
                </c:pt>
                <c:pt idx="163">
                  <c:v>0.20261437908496732</c:v>
                </c:pt>
                <c:pt idx="164">
                  <c:v>0.22222222222222221</c:v>
                </c:pt>
                <c:pt idx="165">
                  <c:v>0.1437908496732026</c:v>
                </c:pt>
                <c:pt idx="166">
                  <c:v>0.16993464052287582</c:v>
                </c:pt>
                <c:pt idx="167">
                  <c:v>0.17647058823529413</c:v>
                </c:pt>
                <c:pt idx="168">
                  <c:v>0.18300653594771241</c:v>
                </c:pt>
                <c:pt idx="169">
                  <c:v>0.13071895424836602</c:v>
                </c:pt>
                <c:pt idx="170">
                  <c:v>0.22068965517241379</c:v>
                </c:pt>
                <c:pt idx="171">
                  <c:v>0.19310344827586207</c:v>
                </c:pt>
                <c:pt idx="172">
                  <c:v>0.19310344827586207</c:v>
                </c:pt>
                <c:pt idx="173">
                  <c:v>0.2</c:v>
                </c:pt>
                <c:pt idx="174">
                  <c:v>0.24827586206896551</c:v>
                </c:pt>
                <c:pt idx="175">
                  <c:v>0.16551724137931034</c:v>
                </c:pt>
                <c:pt idx="176">
                  <c:v>0.22758620689655173</c:v>
                </c:pt>
                <c:pt idx="177">
                  <c:v>0.18439716312056736</c:v>
                </c:pt>
                <c:pt idx="178">
                  <c:v>0.1702127659574468</c:v>
                </c:pt>
                <c:pt idx="179">
                  <c:v>0.22695035460992907</c:v>
                </c:pt>
                <c:pt idx="180">
                  <c:v>0.20567375886524822</c:v>
                </c:pt>
                <c:pt idx="181">
                  <c:v>0.15602836879432624</c:v>
                </c:pt>
                <c:pt idx="182">
                  <c:v>0.26241134751773049</c:v>
                </c:pt>
                <c:pt idx="183">
                  <c:v>0.1702127659574468</c:v>
                </c:pt>
                <c:pt idx="184">
                  <c:v>0.18421052631578946</c:v>
                </c:pt>
                <c:pt idx="185">
                  <c:v>0.21052631578947367</c:v>
                </c:pt>
                <c:pt idx="186">
                  <c:v>0.24210526315789474</c:v>
                </c:pt>
                <c:pt idx="187">
                  <c:v>0.18947368421052632</c:v>
                </c:pt>
                <c:pt idx="188">
                  <c:v>0.24210526315789474</c:v>
                </c:pt>
                <c:pt idx="189">
                  <c:v>0.18421052631578946</c:v>
                </c:pt>
                <c:pt idx="190">
                  <c:v>0.27894736842105261</c:v>
                </c:pt>
                <c:pt idx="191">
                  <c:v>0.22746781115879827</c:v>
                </c:pt>
                <c:pt idx="192">
                  <c:v>0.22317596566523606</c:v>
                </c:pt>
                <c:pt idx="193">
                  <c:v>0.27896995708154504</c:v>
                </c:pt>
                <c:pt idx="194">
                  <c:v>0.22317596566523606</c:v>
                </c:pt>
                <c:pt idx="195">
                  <c:v>0.26609442060085836</c:v>
                </c:pt>
                <c:pt idx="196">
                  <c:v>0.33047210300429186</c:v>
                </c:pt>
                <c:pt idx="197">
                  <c:v>0.26180257510729615</c:v>
                </c:pt>
                <c:pt idx="198">
                  <c:v>0.25735294117647056</c:v>
                </c:pt>
                <c:pt idx="199">
                  <c:v>0.24264705882352941</c:v>
                </c:pt>
                <c:pt idx="200">
                  <c:v>0.26838235294117646</c:v>
                </c:pt>
                <c:pt idx="201">
                  <c:v>0.26838235294117646</c:v>
                </c:pt>
                <c:pt idx="202">
                  <c:v>0.29411764705882354</c:v>
                </c:pt>
                <c:pt idx="203">
                  <c:v>0.27573529411764708</c:v>
                </c:pt>
                <c:pt idx="204">
                  <c:v>0.33088235294117646</c:v>
                </c:pt>
                <c:pt idx="205">
                  <c:v>0.26440677966101694</c:v>
                </c:pt>
                <c:pt idx="206">
                  <c:v>0.30508474576271188</c:v>
                </c:pt>
                <c:pt idx="207">
                  <c:v>0.29830508474576273</c:v>
                </c:pt>
                <c:pt idx="208">
                  <c:v>0.28135593220338984</c:v>
                </c:pt>
                <c:pt idx="209">
                  <c:v>0.31186440677966104</c:v>
                </c:pt>
                <c:pt idx="210">
                  <c:v>0.33559322033898303</c:v>
                </c:pt>
                <c:pt idx="211">
                  <c:v>0.31525423728813562</c:v>
                </c:pt>
                <c:pt idx="212">
                  <c:v>0.33236994219653176</c:v>
                </c:pt>
                <c:pt idx="213">
                  <c:v>0.31213872832369943</c:v>
                </c:pt>
                <c:pt idx="214">
                  <c:v>0.32369942196531792</c:v>
                </c:pt>
                <c:pt idx="215">
                  <c:v>0.24855491329479767</c:v>
                </c:pt>
                <c:pt idx="216">
                  <c:v>0.2832369942196532</c:v>
                </c:pt>
                <c:pt idx="217">
                  <c:v>0.28901734104046245</c:v>
                </c:pt>
                <c:pt idx="218">
                  <c:v>0.27456647398843931</c:v>
                </c:pt>
                <c:pt idx="219">
                  <c:v>0.28823529411764703</c:v>
                </c:pt>
                <c:pt idx="220">
                  <c:v>0.26470588235294118</c:v>
                </c:pt>
                <c:pt idx="221">
                  <c:v>0.31470588235294117</c:v>
                </c:pt>
                <c:pt idx="222">
                  <c:v>0.29705882352941176</c:v>
                </c:pt>
                <c:pt idx="223">
                  <c:v>0.30588235294117649</c:v>
                </c:pt>
                <c:pt idx="224">
                  <c:v>0.28823529411764703</c:v>
                </c:pt>
                <c:pt idx="225">
                  <c:v>0.29705882352941176</c:v>
                </c:pt>
                <c:pt idx="226">
                  <c:v>0.27089337175792505</c:v>
                </c:pt>
                <c:pt idx="227">
                  <c:v>0.31123919308357351</c:v>
                </c:pt>
                <c:pt idx="228">
                  <c:v>0.29682997118155618</c:v>
                </c:pt>
                <c:pt idx="229">
                  <c:v>0.2737752161383285</c:v>
                </c:pt>
                <c:pt idx="230">
                  <c:v>0.30835734870317005</c:v>
                </c:pt>
                <c:pt idx="231">
                  <c:v>0.33429394812680113</c:v>
                </c:pt>
                <c:pt idx="232">
                  <c:v>0.31412103746397696</c:v>
                </c:pt>
                <c:pt idx="233">
                  <c:v>0.21875</c:v>
                </c:pt>
                <c:pt idx="234">
                  <c:v>0.25520833333333331</c:v>
                </c:pt>
                <c:pt idx="235">
                  <c:v>0.29947916666666669</c:v>
                </c:pt>
                <c:pt idx="236">
                  <c:v>0.24739583333333334</c:v>
                </c:pt>
                <c:pt idx="237">
                  <c:v>0.27604166666666669</c:v>
                </c:pt>
                <c:pt idx="238">
                  <c:v>0.30729166666666669</c:v>
                </c:pt>
                <c:pt idx="239">
                  <c:v>0.33072916666666669</c:v>
                </c:pt>
                <c:pt idx="240">
                  <c:v>0.1702127659574468</c:v>
                </c:pt>
                <c:pt idx="241">
                  <c:v>0.2144026186579378</c:v>
                </c:pt>
                <c:pt idx="242">
                  <c:v>0.21276595744680851</c:v>
                </c:pt>
                <c:pt idx="243">
                  <c:v>0.22585924713584288</c:v>
                </c:pt>
                <c:pt idx="244">
                  <c:v>0.27332242225859249</c:v>
                </c:pt>
                <c:pt idx="245">
                  <c:v>0.27823240589198034</c:v>
                </c:pt>
                <c:pt idx="246">
                  <c:v>0.27004909983633391</c:v>
                </c:pt>
                <c:pt idx="247">
                  <c:v>0.20926966292134833</c:v>
                </c:pt>
                <c:pt idx="248">
                  <c:v>0.21207865168539325</c:v>
                </c:pt>
                <c:pt idx="249">
                  <c:v>0.24297752808988765</c:v>
                </c:pt>
                <c:pt idx="250">
                  <c:v>0.21067415730337077</c:v>
                </c:pt>
                <c:pt idx="251">
                  <c:v>0.22752808988764045</c:v>
                </c:pt>
                <c:pt idx="252">
                  <c:v>0.24578651685393257</c:v>
                </c:pt>
                <c:pt idx="253">
                  <c:v>0.24719101123595505</c:v>
                </c:pt>
                <c:pt idx="254">
                  <c:v>0.23316062176165803</c:v>
                </c:pt>
                <c:pt idx="255">
                  <c:v>0.21761658031088082</c:v>
                </c:pt>
                <c:pt idx="256">
                  <c:v>0.23963730569948186</c:v>
                </c:pt>
                <c:pt idx="257">
                  <c:v>0.2344559585492228</c:v>
                </c:pt>
                <c:pt idx="258">
                  <c:v>0.22279792746113988</c:v>
                </c:pt>
                <c:pt idx="259">
                  <c:v>0.2422279792746114</c:v>
                </c:pt>
                <c:pt idx="260">
                  <c:v>0.28238341968911918</c:v>
                </c:pt>
                <c:pt idx="261">
                  <c:v>0.28048780487804881</c:v>
                </c:pt>
                <c:pt idx="262">
                  <c:v>0.29573170731707316</c:v>
                </c:pt>
                <c:pt idx="263">
                  <c:v>0.19969512195121952</c:v>
                </c:pt>
                <c:pt idx="264">
                  <c:v>0.26829268292682928</c:v>
                </c:pt>
                <c:pt idx="265">
                  <c:v>0.2073170731707317</c:v>
                </c:pt>
                <c:pt idx="266">
                  <c:v>0.23323170731707318</c:v>
                </c:pt>
                <c:pt idx="267">
                  <c:v>0.2423780487804878</c:v>
                </c:pt>
                <c:pt idx="268">
                  <c:v>0.21633888048411498</c:v>
                </c:pt>
                <c:pt idx="269">
                  <c:v>0.23600605143721634</c:v>
                </c:pt>
                <c:pt idx="270">
                  <c:v>0.22844175491679275</c:v>
                </c:pt>
                <c:pt idx="271">
                  <c:v>0.22390317700453857</c:v>
                </c:pt>
                <c:pt idx="272">
                  <c:v>0.2783661119515885</c:v>
                </c:pt>
                <c:pt idx="273">
                  <c:v>0.30862329803328292</c:v>
                </c:pt>
                <c:pt idx="274">
                  <c:v>0.32526475037821484</c:v>
                </c:pt>
                <c:pt idx="275">
                  <c:v>0.2832618025751073</c:v>
                </c:pt>
                <c:pt idx="276">
                  <c:v>0.28469241773962806</c:v>
                </c:pt>
                <c:pt idx="277">
                  <c:v>0.26895565092989987</c:v>
                </c:pt>
                <c:pt idx="278">
                  <c:v>0.28183118741058655</c:v>
                </c:pt>
                <c:pt idx="279">
                  <c:v>0.27467811158798283</c:v>
                </c:pt>
                <c:pt idx="280">
                  <c:v>0.28612303290414881</c:v>
                </c:pt>
                <c:pt idx="281">
                  <c:v>0.27467811158798283</c:v>
                </c:pt>
                <c:pt idx="282">
                  <c:v>0.28013029315960913</c:v>
                </c:pt>
                <c:pt idx="283">
                  <c:v>0.26058631921824105</c:v>
                </c:pt>
                <c:pt idx="284">
                  <c:v>0.2736156351791531</c:v>
                </c:pt>
                <c:pt idx="285">
                  <c:v>0.27850162866449513</c:v>
                </c:pt>
                <c:pt idx="286">
                  <c:v>0.250814332247557</c:v>
                </c:pt>
                <c:pt idx="287">
                  <c:v>0.23778501628664495</c:v>
                </c:pt>
                <c:pt idx="288">
                  <c:v>0.27035830618892509</c:v>
                </c:pt>
                <c:pt idx="289">
                  <c:v>0.24587155963302754</c:v>
                </c:pt>
                <c:pt idx="290">
                  <c:v>0.27339449541284405</c:v>
                </c:pt>
                <c:pt idx="291">
                  <c:v>0.24220183486238533</c:v>
                </c:pt>
                <c:pt idx="292">
                  <c:v>0.24036697247706423</c:v>
                </c:pt>
                <c:pt idx="293">
                  <c:v>0.19082568807339451</c:v>
                </c:pt>
                <c:pt idx="294">
                  <c:v>0.19266055045871561</c:v>
                </c:pt>
                <c:pt idx="295">
                  <c:v>0.19266055045871561</c:v>
                </c:pt>
                <c:pt idx="296">
                  <c:v>0.2132701421800948</c:v>
                </c:pt>
                <c:pt idx="297">
                  <c:v>0.23933649289099526</c:v>
                </c:pt>
                <c:pt idx="298">
                  <c:v>0.21800947867298578</c:v>
                </c:pt>
                <c:pt idx="299">
                  <c:v>0.16113744075829384</c:v>
                </c:pt>
                <c:pt idx="300">
                  <c:v>0.17772511848341233</c:v>
                </c:pt>
                <c:pt idx="301">
                  <c:v>0.17298578199052134</c:v>
                </c:pt>
                <c:pt idx="302">
                  <c:v>0.16824644549763032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C7-4315-8EBA-8E8B92F5DDA4}"/>
            </c:ext>
          </c:extLst>
        </c:ser>
        <c:ser>
          <c:idx val="1"/>
          <c:order val="1"/>
          <c:tx>
            <c:strRef>
              <c:f>'Задание 1'!$G$1</c:f>
              <c:strCache>
                <c:ptCount val="1"/>
                <c:pt idx="0">
                  <c:v>SF (month)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'Задание 1'!$B$2:$B$304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'Задание 1'!$G$2:$G$304</c:f>
              <c:numCache>
                <c:formatCode>0.00000</c:formatCode>
                <c:ptCount val="303"/>
                <c:pt idx="0">
                  <c:v>1.5544041450777202E-2</c:v>
                </c:pt>
                <c:pt idx="1">
                  <c:v>3.1088082901554404E-2</c:v>
                </c:pt>
                <c:pt idx="2">
                  <c:v>2.5906735751295335E-2</c:v>
                </c:pt>
                <c:pt idx="3">
                  <c:v>5.181347150259067E-2</c:v>
                </c:pt>
                <c:pt idx="4">
                  <c:v>2.5906735751295335E-2</c:v>
                </c:pt>
                <c:pt idx="5">
                  <c:v>6.7357512953367879E-2</c:v>
                </c:pt>
                <c:pt idx="6">
                  <c:v>0.11398963730569948</c:v>
                </c:pt>
                <c:pt idx="7">
                  <c:v>0.11398963730569948</c:v>
                </c:pt>
                <c:pt idx="8">
                  <c:v>0.13471502590673576</c:v>
                </c:pt>
                <c:pt idx="9">
                  <c:v>0.11917098445595854</c:v>
                </c:pt>
                <c:pt idx="10">
                  <c:v>0.12435233160621761</c:v>
                </c:pt>
                <c:pt idx="11">
                  <c:v>0.15544041450777202</c:v>
                </c:pt>
                <c:pt idx="12">
                  <c:v>0.16580310880829016</c:v>
                </c:pt>
                <c:pt idx="13">
                  <c:v>0.12953367875647667</c:v>
                </c:pt>
                <c:pt idx="14">
                  <c:v>0.17616580310880828</c:v>
                </c:pt>
                <c:pt idx="15">
                  <c:v>0.20207253886010362</c:v>
                </c:pt>
                <c:pt idx="16">
                  <c:v>0.11398963730569948</c:v>
                </c:pt>
                <c:pt idx="17">
                  <c:v>0.19689119170984457</c:v>
                </c:pt>
                <c:pt idx="18">
                  <c:v>0.17616580310880828</c:v>
                </c:pt>
                <c:pt idx="19">
                  <c:v>0.25906735751295334</c:v>
                </c:pt>
                <c:pt idx="20">
                  <c:v>0.22279792746113988</c:v>
                </c:pt>
                <c:pt idx="21">
                  <c:v>0.22279792746113988</c:v>
                </c:pt>
                <c:pt idx="22">
                  <c:v>0.27461139896373055</c:v>
                </c:pt>
                <c:pt idx="23">
                  <c:v>0.32642487046632124</c:v>
                </c:pt>
                <c:pt idx="24">
                  <c:v>0.24870466321243523</c:v>
                </c:pt>
                <c:pt idx="25">
                  <c:v>0.30569948186528495</c:v>
                </c:pt>
                <c:pt idx="26">
                  <c:v>0.30569948186528495</c:v>
                </c:pt>
                <c:pt idx="27">
                  <c:v>0.31606217616580312</c:v>
                </c:pt>
                <c:pt idx="28">
                  <c:v>0.33160621761658032</c:v>
                </c:pt>
                <c:pt idx="29">
                  <c:v>0.33160621761658032</c:v>
                </c:pt>
                <c:pt idx="30">
                  <c:v>0.14207650273224043</c:v>
                </c:pt>
                <c:pt idx="31">
                  <c:v>0.16939890710382513</c:v>
                </c:pt>
                <c:pt idx="32">
                  <c:v>0.15027322404371585</c:v>
                </c:pt>
                <c:pt idx="33">
                  <c:v>0.16393442622950818</c:v>
                </c:pt>
                <c:pt idx="34">
                  <c:v>0.14207650273224043</c:v>
                </c:pt>
                <c:pt idx="35">
                  <c:v>0.16939890710382513</c:v>
                </c:pt>
                <c:pt idx="36">
                  <c:v>0.16120218579234974</c:v>
                </c:pt>
                <c:pt idx="37">
                  <c:v>0.15846994535519127</c:v>
                </c:pt>
                <c:pt idx="38">
                  <c:v>0.1448087431693989</c:v>
                </c:pt>
                <c:pt idx="39">
                  <c:v>0.15027322404371585</c:v>
                </c:pt>
                <c:pt idx="40">
                  <c:v>0.17759562841530055</c:v>
                </c:pt>
                <c:pt idx="41">
                  <c:v>0.14754098360655737</c:v>
                </c:pt>
                <c:pt idx="42">
                  <c:v>0.20218579234972678</c:v>
                </c:pt>
                <c:pt idx="43">
                  <c:v>0.16120218579234974</c:v>
                </c:pt>
                <c:pt idx="44">
                  <c:v>0.14754098360655737</c:v>
                </c:pt>
                <c:pt idx="45">
                  <c:v>0.18579234972677597</c:v>
                </c:pt>
                <c:pt idx="46">
                  <c:v>0.16120218579234974</c:v>
                </c:pt>
                <c:pt idx="47">
                  <c:v>0.16666666666666666</c:v>
                </c:pt>
                <c:pt idx="48">
                  <c:v>0.15846994535519127</c:v>
                </c:pt>
                <c:pt idx="49">
                  <c:v>0.1830601092896175</c:v>
                </c:pt>
                <c:pt idx="50">
                  <c:v>0.16939890710382513</c:v>
                </c:pt>
                <c:pt idx="51">
                  <c:v>0.1448087431693989</c:v>
                </c:pt>
                <c:pt idx="52">
                  <c:v>0.16393442622950818</c:v>
                </c:pt>
                <c:pt idx="53">
                  <c:v>0.1830601092896175</c:v>
                </c:pt>
                <c:pt idx="54">
                  <c:v>0.1830601092896175</c:v>
                </c:pt>
                <c:pt idx="55">
                  <c:v>0.16666666666666666</c:v>
                </c:pt>
                <c:pt idx="56">
                  <c:v>0.1721311475409836</c:v>
                </c:pt>
                <c:pt idx="57">
                  <c:v>0.16666666666666666</c:v>
                </c:pt>
                <c:pt idx="58">
                  <c:v>0.14754098360655737</c:v>
                </c:pt>
                <c:pt idx="59">
                  <c:v>0.19672131147540983</c:v>
                </c:pt>
                <c:pt idx="60">
                  <c:v>0.14754098360655737</c:v>
                </c:pt>
                <c:pt idx="61">
                  <c:v>0.17460317460317459</c:v>
                </c:pt>
                <c:pt idx="62">
                  <c:v>0.16137566137566137</c:v>
                </c:pt>
                <c:pt idx="63">
                  <c:v>0.15343915343915343</c:v>
                </c:pt>
                <c:pt idx="64">
                  <c:v>0.1693121693121693</c:v>
                </c:pt>
                <c:pt idx="65">
                  <c:v>0.16402116402116401</c:v>
                </c:pt>
                <c:pt idx="66">
                  <c:v>0.12169312169312169</c:v>
                </c:pt>
                <c:pt idx="67">
                  <c:v>0.12962962962962962</c:v>
                </c:pt>
                <c:pt idx="68">
                  <c:v>0.15608465608465608</c:v>
                </c:pt>
                <c:pt idx="69">
                  <c:v>0.15873015873015872</c:v>
                </c:pt>
                <c:pt idx="70">
                  <c:v>0.1402116402116402</c:v>
                </c:pt>
                <c:pt idx="71">
                  <c:v>0.16137566137566137</c:v>
                </c:pt>
                <c:pt idx="72">
                  <c:v>0.15343915343915343</c:v>
                </c:pt>
                <c:pt idx="73">
                  <c:v>0.1693121693121693</c:v>
                </c:pt>
                <c:pt idx="74">
                  <c:v>0.17195767195767195</c:v>
                </c:pt>
                <c:pt idx="75">
                  <c:v>0.19576719576719576</c:v>
                </c:pt>
                <c:pt idx="76">
                  <c:v>0.15343915343915343</c:v>
                </c:pt>
                <c:pt idx="77">
                  <c:v>0.16402116402116401</c:v>
                </c:pt>
                <c:pt idx="78">
                  <c:v>0.18253968253968253</c:v>
                </c:pt>
                <c:pt idx="79">
                  <c:v>0.17460317460317459</c:v>
                </c:pt>
                <c:pt idx="80">
                  <c:v>0.17724867724867724</c:v>
                </c:pt>
                <c:pt idx="81">
                  <c:v>0.18783068783068782</c:v>
                </c:pt>
                <c:pt idx="82">
                  <c:v>0.17724867724867724</c:v>
                </c:pt>
                <c:pt idx="83">
                  <c:v>0.14550264550264549</c:v>
                </c:pt>
                <c:pt idx="84">
                  <c:v>0.15343915343915343</c:v>
                </c:pt>
                <c:pt idx="85">
                  <c:v>0.19312169312169311</c:v>
                </c:pt>
                <c:pt idx="86">
                  <c:v>0.15343915343915343</c:v>
                </c:pt>
                <c:pt idx="87">
                  <c:v>0.20105820105820105</c:v>
                </c:pt>
                <c:pt idx="88">
                  <c:v>0.16402116402116401</c:v>
                </c:pt>
                <c:pt idx="89">
                  <c:v>0.17460317460317459</c:v>
                </c:pt>
                <c:pt idx="90">
                  <c:v>0.15608465608465608</c:v>
                </c:pt>
                <c:pt idx="91">
                  <c:v>0.15521628498727735</c:v>
                </c:pt>
                <c:pt idx="92">
                  <c:v>0.13231552162849872</c:v>
                </c:pt>
                <c:pt idx="93">
                  <c:v>0.17557251908396945</c:v>
                </c:pt>
                <c:pt idx="94">
                  <c:v>0.17811704834605599</c:v>
                </c:pt>
                <c:pt idx="95">
                  <c:v>0.11450381679389313</c:v>
                </c:pt>
                <c:pt idx="96">
                  <c:v>0.19592875318066158</c:v>
                </c:pt>
                <c:pt idx="97">
                  <c:v>0.15521628498727735</c:v>
                </c:pt>
                <c:pt idx="98">
                  <c:v>0.14249363867684478</c:v>
                </c:pt>
                <c:pt idx="99">
                  <c:v>0.16793893129770993</c:v>
                </c:pt>
                <c:pt idx="100">
                  <c:v>0.12977099236641221</c:v>
                </c:pt>
                <c:pt idx="101">
                  <c:v>0.15012722646310434</c:v>
                </c:pt>
                <c:pt idx="102">
                  <c:v>0.16539440203562342</c:v>
                </c:pt>
                <c:pt idx="103">
                  <c:v>0.13486005089058525</c:v>
                </c:pt>
                <c:pt idx="104">
                  <c:v>0.18320610687022901</c:v>
                </c:pt>
                <c:pt idx="105">
                  <c:v>0.15776081424936386</c:v>
                </c:pt>
                <c:pt idx="106">
                  <c:v>0.15776081424936386</c:v>
                </c:pt>
                <c:pt idx="107">
                  <c:v>0.17811704834605599</c:v>
                </c:pt>
                <c:pt idx="108">
                  <c:v>0.15776081424936386</c:v>
                </c:pt>
                <c:pt idx="109">
                  <c:v>0.20865139949109415</c:v>
                </c:pt>
                <c:pt idx="110">
                  <c:v>0.13231552162849872</c:v>
                </c:pt>
                <c:pt idx="111">
                  <c:v>0.16539440203562342</c:v>
                </c:pt>
                <c:pt idx="112">
                  <c:v>0.16284987277353691</c:v>
                </c:pt>
                <c:pt idx="113">
                  <c:v>0.14503816793893129</c:v>
                </c:pt>
                <c:pt idx="114">
                  <c:v>0.1475826972010178</c:v>
                </c:pt>
                <c:pt idx="115">
                  <c:v>0.16793893129770993</c:v>
                </c:pt>
                <c:pt idx="116">
                  <c:v>0.15267175572519084</c:v>
                </c:pt>
                <c:pt idx="117">
                  <c:v>0.13994910941475827</c:v>
                </c:pt>
                <c:pt idx="118">
                  <c:v>0.16539440203562342</c:v>
                </c:pt>
                <c:pt idx="119">
                  <c:v>0.13740458015267176</c:v>
                </c:pt>
                <c:pt idx="120">
                  <c:v>0.16793893129770993</c:v>
                </c:pt>
                <c:pt idx="121">
                  <c:v>0.18320610687022901</c:v>
                </c:pt>
                <c:pt idx="122">
                  <c:v>0.13615023474178403</c:v>
                </c:pt>
                <c:pt idx="123">
                  <c:v>0.12910798122065728</c:v>
                </c:pt>
                <c:pt idx="124">
                  <c:v>0.13145539906103287</c:v>
                </c:pt>
                <c:pt idx="125">
                  <c:v>0.14788732394366197</c:v>
                </c:pt>
                <c:pt idx="126">
                  <c:v>0.1619718309859155</c:v>
                </c:pt>
                <c:pt idx="127">
                  <c:v>0.14553990610328638</c:v>
                </c:pt>
                <c:pt idx="128">
                  <c:v>0.14084507042253522</c:v>
                </c:pt>
                <c:pt idx="129">
                  <c:v>0.14084507042253522</c:v>
                </c:pt>
                <c:pt idx="130">
                  <c:v>0.14084507042253522</c:v>
                </c:pt>
                <c:pt idx="131">
                  <c:v>0.12910798122065728</c:v>
                </c:pt>
                <c:pt idx="132">
                  <c:v>0.14553990610328638</c:v>
                </c:pt>
                <c:pt idx="133">
                  <c:v>0.12441314553990611</c:v>
                </c:pt>
                <c:pt idx="134">
                  <c:v>0.12676056338028169</c:v>
                </c:pt>
                <c:pt idx="135">
                  <c:v>0.107981220657277</c:v>
                </c:pt>
                <c:pt idx="136">
                  <c:v>0.12910798122065728</c:v>
                </c:pt>
                <c:pt idx="137">
                  <c:v>0.11971830985915492</c:v>
                </c:pt>
                <c:pt idx="138">
                  <c:v>0.13615023474178403</c:v>
                </c:pt>
                <c:pt idx="139">
                  <c:v>0.11971830985915492</c:v>
                </c:pt>
                <c:pt idx="140">
                  <c:v>9.3896713615023469E-2</c:v>
                </c:pt>
                <c:pt idx="141">
                  <c:v>0.11737089201877934</c:v>
                </c:pt>
                <c:pt idx="142">
                  <c:v>7.9812206572769953E-2</c:v>
                </c:pt>
                <c:pt idx="143">
                  <c:v>9.6244131455399062E-2</c:v>
                </c:pt>
                <c:pt idx="144">
                  <c:v>9.154929577464789E-2</c:v>
                </c:pt>
                <c:pt idx="145">
                  <c:v>7.5117370892018781E-2</c:v>
                </c:pt>
                <c:pt idx="146">
                  <c:v>7.5117370892018781E-2</c:v>
                </c:pt>
                <c:pt idx="147">
                  <c:v>7.2769953051643188E-2</c:v>
                </c:pt>
                <c:pt idx="148">
                  <c:v>8.2159624413145546E-2</c:v>
                </c:pt>
                <c:pt idx="149">
                  <c:v>7.5117370892018781E-2</c:v>
                </c:pt>
                <c:pt idx="150">
                  <c:v>5.39906103286385E-2</c:v>
                </c:pt>
                <c:pt idx="151">
                  <c:v>8.2159624413145546E-2</c:v>
                </c:pt>
                <c:pt idx="152">
                  <c:v>8.2051282051282051E-2</c:v>
                </c:pt>
                <c:pt idx="153">
                  <c:v>6.4102564102564097E-2</c:v>
                </c:pt>
                <c:pt idx="154">
                  <c:v>4.8717948717948718E-2</c:v>
                </c:pt>
                <c:pt idx="155">
                  <c:v>7.6923076923076927E-2</c:v>
                </c:pt>
                <c:pt idx="156">
                  <c:v>5.8974358974358973E-2</c:v>
                </c:pt>
                <c:pt idx="157">
                  <c:v>8.2051282051282051E-2</c:v>
                </c:pt>
                <c:pt idx="158">
                  <c:v>8.9743589743589744E-2</c:v>
                </c:pt>
                <c:pt idx="159">
                  <c:v>7.4358974358974358E-2</c:v>
                </c:pt>
                <c:pt idx="160">
                  <c:v>9.2307692307692313E-2</c:v>
                </c:pt>
                <c:pt idx="161">
                  <c:v>7.6923076923076927E-2</c:v>
                </c:pt>
                <c:pt idx="162">
                  <c:v>6.4102564102564097E-2</c:v>
                </c:pt>
                <c:pt idx="163">
                  <c:v>7.9487179487179482E-2</c:v>
                </c:pt>
                <c:pt idx="164">
                  <c:v>8.7179487179487175E-2</c:v>
                </c:pt>
                <c:pt idx="165">
                  <c:v>5.6410256410256411E-2</c:v>
                </c:pt>
                <c:pt idx="166">
                  <c:v>6.6666666666666666E-2</c:v>
                </c:pt>
                <c:pt idx="167">
                  <c:v>6.9230769230769235E-2</c:v>
                </c:pt>
                <c:pt idx="168">
                  <c:v>7.179487179487179E-2</c:v>
                </c:pt>
                <c:pt idx="169">
                  <c:v>5.128205128205128E-2</c:v>
                </c:pt>
                <c:pt idx="170">
                  <c:v>8.2051282051282051E-2</c:v>
                </c:pt>
                <c:pt idx="171">
                  <c:v>7.179487179487179E-2</c:v>
                </c:pt>
                <c:pt idx="172">
                  <c:v>7.179487179487179E-2</c:v>
                </c:pt>
                <c:pt idx="173">
                  <c:v>7.4358974358974358E-2</c:v>
                </c:pt>
                <c:pt idx="174">
                  <c:v>9.2307692307692313E-2</c:v>
                </c:pt>
                <c:pt idx="175">
                  <c:v>6.1538461538461542E-2</c:v>
                </c:pt>
                <c:pt idx="176">
                  <c:v>8.461538461538462E-2</c:v>
                </c:pt>
                <c:pt idx="177">
                  <c:v>6.6666666666666666E-2</c:v>
                </c:pt>
                <c:pt idx="178">
                  <c:v>6.1538461538461542E-2</c:v>
                </c:pt>
                <c:pt idx="179">
                  <c:v>8.2051282051282051E-2</c:v>
                </c:pt>
                <c:pt idx="180">
                  <c:v>7.4358974358974358E-2</c:v>
                </c:pt>
                <c:pt idx="181">
                  <c:v>5.6410256410256411E-2</c:v>
                </c:pt>
                <c:pt idx="182">
                  <c:v>9.4871794871794868E-2</c:v>
                </c:pt>
                <c:pt idx="183">
                  <c:v>4.4776119402985072E-2</c:v>
                </c:pt>
                <c:pt idx="184">
                  <c:v>6.5298507462686561E-2</c:v>
                </c:pt>
                <c:pt idx="185">
                  <c:v>7.4626865671641784E-2</c:v>
                </c:pt>
                <c:pt idx="186">
                  <c:v>8.5820895522388058E-2</c:v>
                </c:pt>
                <c:pt idx="187">
                  <c:v>6.7164179104477612E-2</c:v>
                </c:pt>
                <c:pt idx="188">
                  <c:v>8.5820895522388058E-2</c:v>
                </c:pt>
                <c:pt idx="189">
                  <c:v>6.5298507462686561E-2</c:v>
                </c:pt>
                <c:pt idx="190">
                  <c:v>9.8880597014925367E-2</c:v>
                </c:pt>
                <c:pt idx="191">
                  <c:v>9.8880597014925367E-2</c:v>
                </c:pt>
                <c:pt idx="192">
                  <c:v>9.7014925373134331E-2</c:v>
                </c:pt>
                <c:pt idx="193">
                  <c:v>0.12126865671641791</c:v>
                </c:pt>
                <c:pt idx="194">
                  <c:v>9.7014925373134331E-2</c:v>
                </c:pt>
                <c:pt idx="195">
                  <c:v>0.11567164179104478</c:v>
                </c:pt>
                <c:pt idx="196">
                  <c:v>0.14365671641791045</c:v>
                </c:pt>
                <c:pt idx="197">
                  <c:v>0.11380597014925373</c:v>
                </c:pt>
                <c:pt idx="198">
                  <c:v>0.13059701492537312</c:v>
                </c:pt>
                <c:pt idx="199">
                  <c:v>0.12313432835820895</c:v>
                </c:pt>
                <c:pt idx="200">
                  <c:v>0.13619402985074627</c:v>
                </c:pt>
                <c:pt idx="201">
                  <c:v>0.13619402985074627</c:v>
                </c:pt>
                <c:pt idx="202">
                  <c:v>0.14925373134328357</c:v>
                </c:pt>
                <c:pt idx="203">
                  <c:v>0.13992537313432835</c:v>
                </c:pt>
                <c:pt idx="204">
                  <c:v>0.16791044776119404</c:v>
                </c:pt>
                <c:pt idx="205">
                  <c:v>0.1455223880597015</c:v>
                </c:pt>
                <c:pt idx="206">
                  <c:v>0.16791044776119404</c:v>
                </c:pt>
                <c:pt idx="207">
                  <c:v>0.16417910447761194</c:v>
                </c:pt>
                <c:pt idx="208">
                  <c:v>0.15485074626865672</c:v>
                </c:pt>
                <c:pt idx="209">
                  <c:v>0.17164179104477612</c:v>
                </c:pt>
                <c:pt idx="210">
                  <c:v>0.18470149253731344</c:v>
                </c:pt>
                <c:pt idx="211">
                  <c:v>0.17350746268656717</c:v>
                </c:pt>
                <c:pt idx="212">
                  <c:v>0.21455223880597016</c:v>
                </c:pt>
                <c:pt idx="213">
                  <c:v>0.20149253731343283</c:v>
                </c:pt>
                <c:pt idx="214">
                  <c:v>0.16091954022988506</c:v>
                </c:pt>
                <c:pt idx="215">
                  <c:v>0.1235632183908046</c:v>
                </c:pt>
                <c:pt idx="216">
                  <c:v>0.14080459770114942</c:v>
                </c:pt>
                <c:pt idx="217">
                  <c:v>0.14367816091954022</c:v>
                </c:pt>
                <c:pt idx="218">
                  <c:v>0.13649425287356323</c:v>
                </c:pt>
                <c:pt idx="219">
                  <c:v>0.14080459770114942</c:v>
                </c:pt>
                <c:pt idx="220">
                  <c:v>0.12931034482758622</c:v>
                </c:pt>
                <c:pt idx="221">
                  <c:v>0.15373563218390804</c:v>
                </c:pt>
                <c:pt idx="222">
                  <c:v>0.14511494252873564</c:v>
                </c:pt>
                <c:pt idx="223">
                  <c:v>0.14942528735632185</c:v>
                </c:pt>
                <c:pt idx="224">
                  <c:v>0.14080459770114942</c:v>
                </c:pt>
                <c:pt idx="225">
                  <c:v>0.14511494252873564</c:v>
                </c:pt>
                <c:pt idx="226">
                  <c:v>0.13505747126436782</c:v>
                </c:pt>
                <c:pt idx="227">
                  <c:v>0.15517241379310345</c:v>
                </c:pt>
                <c:pt idx="228">
                  <c:v>0.14798850574712644</c:v>
                </c:pt>
                <c:pt idx="229">
                  <c:v>0.13649425287356323</c:v>
                </c:pt>
                <c:pt idx="230">
                  <c:v>0.15373563218390804</c:v>
                </c:pt>
                <c:pt idx="231">
                  <c:v>0.16666666666666666</c:v>
                </c:pt>
                <c:pt idx="232">
                  <c:v>0.15660919540229884</c:v>
                </c:pt>
                <c:pt idx="233">
                  <c:v>0.1206896551724138</c:v>
                </c:pt>
                <c:pt idx="234">
                  <c:v>0.14080459770114942</c:v>
                </c:pt>
                <c:pt idx="235">
                  <c:v>0.16522988505747127</c:v>
                </c:pt>
                <c:pt idx="236">
                  <c:v>0.13649425287356323</c:v>
                </c:pt>
                <c:pt idx="237">
                  <c:v>0.15229885057471265</c:v>
                </c:pt>
                <c:pt idx="238">
                  <c:v>0.16954022988505746</c:v>
                </c:pt>
                <c:pt idx="239">
                  <c:v>0.18247126436781611</c:v>
                </c:pt>
                <c:pt idx="240">
                  <c:v>0.14942528735632185</c:v>
                </c:pt>
                <c:pt idx="241">
                  <c:v>0.18821839080459771</c:v>
                </c:pt>
                <c:pt idx="242">
                  <c:v>8.4196891191709838E-2</c:v>
                </c:pt>
                <c:pt idx="243">
                  <c:v>8.937823834196891E-2</c:v>
                </c:pt>
                <c:pt idx="244">
                  <c:v>0.10816062176165803</c:v>
                </c:pt>
                <c:pt idx="245">
                  <c:v>0.11010362694300518</c:v>
                </c:pt>
                <c:pt idx="246">
                  <c:v>0.10686528497409327</c:v>
                </c:pt>
                <c:pt idx="247">
                  <c:v>9.6502590673575125E-2</c:v>
                </c:pt>
                <c:pt idx="248">
                  <c:v>9.7797927461139897E-2</c:v>
                </c:pt>
                <c:pt idx="249">
                  <c:v>0.11204663212435233</c:v>
                </c:pt>
                <c:pt idx="250">
                  <c:v>9.7150259067357511E-2</c:v>
                </c:pt>
                <c:pt idx="251">
                  <c:v>0.10492227979274611</c:v>
                </c:pt>
                <c:pt idx="252">
                  <c:v>0.1133419689119171</c:v>
                </c:pt>
                <c:pt idx="253">
                  <c:v>0.11398963730569948</c:v>
                </c:pt>
                <c:pt idx="254">
                  <c:v>0.11658031088082901</c:v>
                </c:pt>
                <c:pt idx="255">
                  <c:v>0.10880829015544041</c:v>
                </c:pt>
                <c:pt idx="256">
                  <c:v>0.11981865284974093</c:v>
                </c:pt>
                <c:pt idx="257">
                  <c:v>0.1172279792746114</c:v>
                </c:pt>
                <c:pt idx="258">
                  <c:v>0.11139896373056994</c:v>
                </c:pt>
                <c:pt idx="259">
                  <c:v>0.1211139896373057</c:v>
                </c:pt>
                <c:pt idx="260">
                  <c:v>0.14119170984455959</c:v>
                </c:pt>
                <c:pt idx="261">
                  <c:v>0.11917098445595854</c:v>
                </c:pt>
                <c:pt idx="262">
                  <c:v>0.12564766839378239</c:v>
                </c:pt>
                <c:pt idx="263">
                  <c:v>8.4844559585492224E-2</c:v>
                </c:pt>
                <c:pt idx="264">
                  <c:v>0.11398963730569948</c:v>
                </c:pt>
                <c:pt idx="265">
                  <c:v>8.8082901554404139E-2</c:v>
                </c:pt>
                <c:pt idx="266">
                  <c:v>9.9093264248704668E-2</c:v>
                </c:pt>
                <c:pt idx="267">
                  <c:v>0.10297927461139897</c:v>
                </c:pt>
                <c:pt idx="268">
                  <c:v>9.2616580310880825E-2</c:v>
                </c:pt>
                <c:pt idx="269">
                  <c:v>0.10103626943005181</c:v>
                </c:pt>
                <c:pt idx="270">
                  <c:v>9.7797927461139897E-2</c:v>
                </c:pt>
                <c:pt idx="271">
                  <c:v>9.585492227979274E-2</c:v>
                </c:pt>
                <c:pt idx="272">
                  <c:v>0.11917098445595854</c:v>
                </c:pt>
                <c:pt idx="273">
                  <c:v>0.19863680623174293</c:v>
                </c:pt>
                <c:pt idx="274">
                  <c:v>0.20934761441090555</c:v>
                </c:pt>
                <c:pt idx="275">
                  <c:v>0.19279454722492698</c:v>
                </c:pt>
                <c:pt idx="276">
                  <c:v>0.19376825705939629</c:v>
                </c:pt>
                <c:pt idx="277">
                  <c:v>0.1830574488802337</c:v>
                </c:pt>
                <c:pt idx="278">
                  <c:v>0.19182083739045763</c:v>
                </c:pt>
                <c:pt idx="279">
                  <c:v>0.186952288218111</c:v>
                </c:pt>
                <c:pt idx="280">
                  <c:v>0.19474196689386564</c:v>
                </c:pt>
                <c:pt idx="281">
                  <c:v>0.186952288218111</c:v>
                </c:pt>
                <c:pt idx="282">
                  <c:v>0.16747809152872445</c:v>
                </c:pt>
                <c:pt idx="283">
                  <c:v>0.15579357351509251</c:v>
                </c:pt>
                <c:pt idx="284">
                  <c:v>0.16358325219084713</c:v>
                </c:pt>
                <c:pt idx="285">
                  <c:v>0.1665043816942551</c:v>
                </c:pt>
                <c:pt idx="286">
                  <c:v>0.14995131450827653</c:v>
                </c:pt>
                <c:pt idx="287">
                  <c:v>0.14216163583252192</c:v>
                </c:pt>
                <c:pt idx="288">
                  <c:v>0.16163583252190847</c:v>
                </c:pt>
                <c:pt idx="289">
                  <c:v>0.13047711781888996</c:v>
                </c:pt>
                <c:pt idx="290">
                  <c:v>0.1450827653359299</c:v>
                </c:pt>
                <c:pt idx="291">
                  <c:v>0.12852969814995133</c:v>
                </c:pt>
                <c:pt idx="292">
                  <c:v>0.12755598831548198</c:v>
                </c:pt>
                <c:pt idx="293">
                  <c:v>0.10126582278481013</c:v>
                </c:pt>
                <c:pt idx="294">
                  <c:v>0.10223953261927946</c:v>
                </c:pt>
                <c:pt idx="295">
                  <c:v>0.10223953261927946</c:v>
                </c:pt>
                <c:pt idx="296">
                  <c:v>8.7633885102239531E-2</c:v>
                </c:pt>
                <c:pt idx="297">
                  <c:v>9.8344693281402148E-2</c:v>
                </c:pt>
                <c:pt idx="298">
                  <c:v>8.9581304771178191E-2</c:v>
                </c:pt>
                <c:pt idx="299">
                  <c:v>6.621226874391431E-2</c:v>
                </c:pt>
                <c:pt idx="300">
                  <c:v>7.3028237585199607E-2</c:v>
                </c:pt>
                <c:pt idx="301">
                  <c:v>7.108081791626096E-2</c:v>
                </c:pt>
                <c:pt idx="302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C7-4315-8EBA-8E8B92F5DD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1741039"/>
        <c:axId val="1771745199"/>
      </c:lineChart>
      <c:dateAx>
        <c:axId val="17717410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500" dirty="0">
                  <a:solidFill>
                    <a:schemeClr val="tx1"/>
                  </a:solidFill>
                </a:endParaRP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1745199"/>
        <c:crosses val="autoZero"/>
        <c:auto val="1"/>
        <c:lblOffset val="100"/>
        <c:baseTimeUnit val="days"/>
      </c:dateAx>
      <c:valAx>
        <c:axId val="1771745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500" dirty="0">
                    <a:solidFill>
                      <a:schemeClr val="tx1"/>
                    </a:solidFill>
                  </a:rPr>
                  <a:t>Sticky Factors</a:t>
                </a:r>
              </a:p>
            </c:rich>
          </c:tx>
          <c:layout>
            <c:manualLayout>
              <c:xMode val="edge"/>
              <c:yMode val="edge"/>
              <c:x val="7.3904195721587185E-3"/>
              <c:y val="0.2516838413632146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174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b="0" i="0" baseline="0" dirty="0">
                <a:solidFill>
                  <a:schemeClr val="tx1"/>
                </a:solidFill>
                <a:effectLst/>
              </a:rPr>
              <a:t>Динамика суммарных клиентских выплат в разрезе типов продуктов</a:t>
            </a:r>
            <a:endParaRPr lang="ru-RU" sz="2000" dirty="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9.1333542546312152E-2"/>
          <c:y val="0.1588180463112725"/>
          <c:w val="0.78002501046064898"/>
          <c:h val="0.67594794980302608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Лист1!$B$42</c:f>
              <c:strCache>
                <c:ptCount val="1"/>
                <c:pt idx="0">
                  <c:v>Ammo</c:v>
                </c:pt>
              </c:strCache>
            </c:strRef>
          </c:tx>
          <c:spPr>
            <a:ln w="381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Лист1!$A$43:$A$52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Лист1!$B$43:$B$52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9C-4E35-BC9E-F899ED752F60}"/>
            </c:ext>
          </c:extLst>
        </c:ser>
        <c:ser>
          <c:idx val="1"/>
          <c:order val="1"/>
          <c:tx>
            <c:strRef>
              <c:f>Лист1!$C$42</c:f>
              <c:strCache>
                <c:ptCount val="1"/>
                <c:pt idx="0">
                  <c:v>Currency</c:v>
                </c:pt>
              </c:strCache>
            </c:strRef>
          </c:tx>
          <c:spPr>
            <a:ln w="3810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Лист1!$A$43:$A$52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Лист1!$C$43:$C$52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9C-4E35-BC9E-F899ED752F60}"/>
            </c:ext>
          </c:extLst>
        </c:ser>
        <c:ser>
          <c:idx val="2"/>
          <c:order val="2"/>
          <c:tx>
            <c:strRef>
              <c:f>Лист1!$D$42</c:f>
              <c:strCache>
                <c:ptCount val="1"/>
                <c:pt idx="0">
                  <c:v>Materials</c:v>
                </c:pt>
              </c:strCache>
            </c:strRef>
          </c:tx>
          <c:spPr>
            <a:ln w="381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Лист1!$A$43:$A$52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Лист1!$D$43:$D$52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79C-4E35-BC9E-F899ED752F60}"/>
            </c:ext>
          </c:extLst>
        </c:ser>
        <c:ser>
          <c:idx val="3"/>
          <c:order val="3"/>
          <c:tx>
            <c:strRef>
              <c:f>Лист1!$E$42</c:f>
              <c:strCache>
                <c:ptCount val="1"/>
                <c:pt idx="0">
                  <c:v>Transport</c:v>
                </c:pt>
              </c:strCache>
            </c:strRef>
          </c:tx>
          <c:spPr>
            <a:ln w="38100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Лист1!$A$43:$A$52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Лист1!$E$43:$E$52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79C-4E35-BC9E-F899ED752F60}"/>
            </c:ext>
          </c:extLst>
        </c:ser>
        <c:ser>
          <c:idx val="4"/>
          <c:order val="4"/>
          <c:tx>
            <c:strRef>
              <c:f>Лист1!$F$42</c:f>
              <c:strCache>
                <c:ptCount val="1"/>
                <c:pt idx="0">
                  <c:v>Weapon</c:v>
                </c:pt>
              </c:strCache>
            </c:strRef>
          </c:tx>
          <c:spPr>
            <a:ln w="381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Лист1!$A$43:$A$52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Лист1!$F$43:$F$52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79C-4E35-BC9E-F899ED752F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1196752"/>
        <c:axId val="641205904"/>
      </c:lineChart>
      <c:catAx>
        <c:axId val="6411967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 sz="500" dirty="0">
                  <a:solidFill>
                    <a:schemeClr val="tx1"/>
                  </a:solidFill>
                </a:endParaRP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41205904"/>
        <c:crosses val="autoZero"/>
        <c:auto val="1"/>
        <c:lblAlgn val="ctr"/>
        <c:lblOffset val="100"/>
        <c:noMultiLvlLbl val="0"/>
      </c:catAx>
      <c:valAx>
        <c:axId val="64120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Выручка, руб.</a:t>
                </a:r>
              </a:p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ru-RU" sz="5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4119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b="0" i="0" u="none" strike="noStrike" baseline="0" dirty="0">
                <a:solidFill>
                  <a:schemeClr val="tx1"/>
                </a:solidFill>
                <a:effectLst/>
              </a:rPr>
              <a:t>Динамика среднего количества приобретаемых кристаллов на одну покупку</a:t>
            </a:r>
            <a:endParaRPr lang="ru-RU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8.7268637763764104E-2"/>
          <c:y val="0.19491496201511652"/>
          <c:w val="0.82173692625593653"/>
          <c:h val="0.48785772274604272"/>
        </c:manualLayout>
      </c:layout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Среднее количество приобретаемых кристаллов</c:v>
                </c:pt>
              </c:strCache>
            </c:strRef>
          </c:tx>
          <c:spPr>
            <a:ln w="381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запроса'!$A$2:$A$11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'Результат запроса'!$B$2:$B$11</c:f>
              <c:numCache>
                <c:formatCode>0.00</c:formatCode>
                <c:ptCount val="10"/>
                <c:pt idx="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50-4A43-B6AE-4C4F4E5B6F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1756303"/>
        <c:axId val="1305331983"/>
      </c:lineChart>
      <c:lineChart>
        <c:grouping val="standar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3810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запроса'!$A$2:$A$11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50-4A43-B6AE-4C4F4E5B6F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8276191"/>
        <c:axId val="1618258719"/>
      </c:lineChart>
      <c:catAx>
        <c:axId val="13617563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layout>
            <c:manualLayout>
              <c:xMode val="edge"/>
              <c:yMode val="edge"/>
              <c:x val="0.46975517906497105"/>
              <c:y val="0.803271821036395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5331983"/>
        <c:crosses val="autoZero"/>
        <c:auto val="1"/>
        <c:lblAlgn val="ctr"/>
        <c:lblOffset val="100"/>
        <c:noMultiLvlLbl val="1"/>
      </c:catAx>
      <c:valAx>
        <c:axId val="1305331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Количество кристаллов</a:t>
                </a:r>
              </a:p>
            </c:rich>
          </c:tx>
          <c:layout>
            <c:manualLayout>
              <c:xMode val="edge"/>
              <c:yMode val="edge"/>
              <c:x val="2.2038687477527442E-3"/>
              <c:y val="0.1712516923508765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61756303"/>
        <c:crosses val="autoZero"/>
        <c:crossBetween val="between"/>
      </c:valAx>
      <c:valAx>
        <c:axId val="161825871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Выручка, руб.</a:t>
                </a:r>
              </a:p>
            </c:rich>
          </c:tx>
          <c:layout>
            <c:manualLayout>
              <c:xMode val="edge"/>
              <c:yMode val="edge"/>
              <c:x val="0.96864905175634786"/>
              <c:y val="0.2642653533580234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8276191"/>
        <c:crosses val="max"/>
        <c:crossBetween val="between"/>
      </c:valAx>
      <c:catAx>
        <c:axId val="16182761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18258719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tx1"/>
                </a:solidFill>
              </a:rPr>
              <a:t>Динамика средней выручки на одного</a:t>
            </a:r>
            <a:r>
              <a:rPr lang="ru-RU" sz="2000" baseline="0" dirty="0">
                <a:solidFill>
                  <a:schemeClr val="tx1"/>
                </a:solidFill>
              </a:rPr>
              <a:t> человека</a:t>
            </a:r>
            <a:endParaRPr lang="ru-RU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запроса'!$D$1</c:f>
              <c:strCache>
                <c:ptCount val="1"/>
                <c:pt idx="0">
                  <c:v>Средняя выручка на одного человека за все время</c:v>
                </c:pt>
              </c:strCache>
            </c:strRef>
          </c:tx>
          <c:spPr>
            <a:ln w="381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запроса'!$A$2:$A$10</c:f>
              <c:strCache>
                <c:ptCount val="9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</c:strCache>
            </c:strRef>
          </c:cat>
          <c:val>
            <c:numRef>
              <c:f>'Результат запроса'!$D$2:$D$10</c:f>
              <c:numCache>
                <c:formatCode>0.00</c:formatCode>
                <c:ptCount val="9"/>
                <c:pt idx="0">
                  <c:v>1185.4647887323943</c:v>
                </c:pt>
                <c:pt idx="1">
                  <c:v>855.34210526315792</c:v>
                </c:pt>
                <c:pt idx="2">
                  <c:v>1052.5853658536585</c:v>
                </c:pt>
                <c:pt idx="3">
                  <c:v>929.24137931034488</c:v>
                </c:pt>
                <c:pt idx="4">
                  <c:v>1048.2987012987012</c:v>
                </c:pt>
                <c:pt idx="5">
                  <c:v>992.25301204819277</c:v>
                </c:pt>
                <c:pt idx="6">
                  <c:v>1021.2598425196851</c:v>
                </c:pt>
                <c:pt idx="7">
                  <c:v>1155.2177419354839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11-4F4D-8539-BEB182CECB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922320"/>
        <c:axId val="28938960"/>
      </c:lineChart>
      <c:lineChart>
        <c:grouping val="standard"/>
        <c:varyColors val="0"/>
        <c:ser>
          <c:idx val="1"/>
          <c:order val="1"/>
          <c:tx>
            <c:strRef>
              <c:f>'Результат запроса'!$F$1</c:f>
              <c:strCache>
                <c:ptCount val="1"/>
                <c:pt idx="0">
                  <c:v>Средняя выручка на одного человека за месяц</c:v>
                </c:pt>
              </c:strCache>
            </c:strRef>
          </c:tx>
          <c:spPr>
            <a:ln w="3810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запроса'!$A$2:$A$10</c:f>
              <c:strCache>
                <c:ptCount val="9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</c:strCache>
            </c:strRef>
          </c:cat>
          <c:val>
            <c:numRef>
              <c:f>'Результат запроса'!$F$2:$F$10</c:f>
              <c:numCache>
                <c:formatCode>0.00</c:formatCode>
                <c:ptCount val="9"/>
                <c:pt idx="0">
                  <c:v>118.15263675073697</c:v>
                </c:pt>
                <c:pt idx="1">
                  <c:v>95.038011695906434</c:v>
                </c:pt>
                <c:pt idx="2">
                  <c:v>132.12368609041738</c:v>
                </c:pt>
                <c:pt idx="3">
                  <c:v>133.3839300445471</c:v>
                </c:pt>
                <c:pt idx="4">
                  <c:v>176.6795563986575</c:v>
                </c:pt>
                <c:pt idx="5">
                  <c:v>201.13236730706609</c:v>
                </c:pt>
                <c:pt idx="6">
                  <c:v>261.86149808197052</c:v>
                </c:pt>
                <c:pt idx="7">
                  <c:v>402.98293323330836</c:v>
                </c:pt>
                <c:pt idx="8">
                  <c:v>562.4648476732508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11-4F4D-8539-BEB182CECB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6934912"/>
        <c:axId val="666940736"/>
      </c:lineChart>
      <c:catAx>
        <c:axId val="28922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Когорты</a:t>
                </a:r>
              </a:p>
            </c:rich>
          </c:tx>
          <c:layout>
            <c:manualLayout>
              <c:xMode val="edge"/>
              <c:yMode val="edge"/>
              <c:x val="0.46588787006727"/>
              <c:y val="0.814507726175848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38960"/>
        <c:crosses val="autoZero"/>
        <c:auto val="1"/>
        <c:lblAlgn val="ctr"/>
        <c:lblOffset val="100"/>
        <c:noMultiLvlLbl val="1"/>
      </c:catAx>
      <c:valAx>
        <c:axId val="2893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Средняя  выручка за все время</a:t>
                </a:r>
              </a:p>
            </c:rich>
          </c:tx>
          <c:layout>
            <c:manualLayout>
              <c:xMode val="edge"/>
              <c:yMode val="edge"/>
              <c:x val="7.0710831303258158E-3"/>
              <c:y val="0.1151797717037375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22320"/>
        <c:crosses val="autoZero"/>
        <c:crossBetween val="between"/>
      </c:valAx>
      <c:valAx>
        <c:axId val="66694073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Средняя выручка в месяц</a:t>
                </a:r>
              </a:p>
            </c:rich>
          </c:tx>
          <c:layout>
            <c:manualLayout>
              <c:xMode val="edge"/>
              <c:yMode val="edge"/>
              <c:x val="0.97135032818362987"/>
              <c:y val="0.146202268306326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66934912"/>
        <c:crosses val="max"/>
        <c:crossBetween val="between"/>
      </c:valAx>
      <c:catAx>
        <c:axId val="6669349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66940736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tx1"/>
                </a:solidFill>
              </a:rPr>
              <a:t>Динамика</a:t>
            </a:r>
            <a:r>
              <a:rPr lang="ru-RU" sz="2000" baseline="0" dirty="0">
                <a:solidFill>
                  <a:schemeClr val="tx1"/>
                </a:solidFill>
              </a:rPr>
              <a:t> количества лояльных пользователей</a:t>
            </a:r>
            <a:endParaRPr lang="en-US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LMAU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236-4A6A-9873-17E4716E8A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'Результат запроса'!$A$2:$A$11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36-4A6A-9873-17E4716E8A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72002031"/>
        <c:axId val="171999535"/>
      </c:barChart>
      <c:dateAx>
        <c:axId val="1720020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layout>
            <c:manualLayout>
              <c:xMode val="edge"/>
              <c:yMode val="edge"/>
              <c:x val="0.49931544888791424"/>
              <c:y val="0.8885968657616284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1999535"/>
        <c:crosses val="autoZero"/>
        <c:auto val="0"/>
        <c:lblOffset val="100"/>
        <c:baseTimeUnit val="months"/>
      </c:dateAx>
      <c:valAx>
        <c:axId val="171999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500" dirty="0">
                    <a:solidFill>
                      <a:schemeClr val="tx1"/>
                    </a:solidFill>
                  </a:rPr>
                  <a:t>LMAU</a:t>
                </a:r>
                <a:endParaRPr lang="ru-RU" sz="150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1.1922379489151386E-2"/>
              <c:y val="0.4523650231190423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200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tx1"/>
                </a:solidFill>
              </a:rPr>
              <a:t>Динамика</a:t>
            </a:r>
            <a:r>
              <a:rPr lang="ru-RU" sz="2000" baseline="0" dirty="0">
                <a:solidFill>
                  <a:schemeClr val="tx1"/>
                </a:solidFill>
              </a:rPr>
              <a:t> количества лояльных пользователей</a:t>
            </a:r>
            <a:endParaRPr lang="en-US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LMAU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'Результат запроса'!$A$2:$A$11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19</c:v>
                </c:pt>
                <c:pt idx="1">
                  <c:v>32</c:v>
                </c:pt>
                <c:pt idx="2">
                  <c:v>29</c:v>
                </c:pt>
                <c:pt idx="3">
                  <c:v>35</c:v>
                </c:pt>
                <c:pt idx="4">
                  <c:v>38</c:v>
                </c:pt>
                <c:pt idx="5">
                  <c:v>38</c:v>
                </c:pt>
                <c:pt idx="6">
                  <c:v>64</c:v>
                </c:pt>
                <c:pt idx="7">
                  <c:v>90</c:v>
                </c:pt>
                <c:pt idx="8">
                  <c:v>184</c:v>
                </c:pt>
                <c:pt idx="9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A1-4932-9972-7EFD18EAB1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885147871"/>
        <c:axId val="885144543"/>
      </c:barChart>
      <c:catAx>
        <c:axId val="8851478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layout>
            <c:manualLayout>
              <c:xMode val="edge"/>
              <c:yMode val="edge"/>
              <c:x val="0.50755882250316942"/>
              <c:y val="0.8957130033686786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5144543"/>
        <c:crosses val="autoZero"/>
        <c:auto val="1"/>
        <c:lblAlgn val="ctr"/>
        <c:lblOffset val="100"/>
        <c:noMultiLvlLbl val="1"/>
      </c:catAx>
      <c:valAx>
        <c:axId val="88514454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500" dirty="0">
                    <a:solidFill>
                      <a:schemeClr val="tx1"/>
                    </a:solidFill>
                  </a:rPr>
                  <a:t>LMAU</a:t>
                </a:r>
                <a:endParaRPr lang="ru-RU" sz="150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1.7232890201871E-2"/>
              <c:y val="0.462870011139276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5147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tx1"/>
                </a:solidFill>
              </a:rPr>
              <a:t>Динамика количества лояльных пользователей</a:t>
            </a:r>
            <a:endParaRPr lang="en-US" sz="20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LMAU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'Результат запроса'!$A$2:$A$11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12</c:v>
                </c:pt>
                <c:pt idx="4">
                  <c:v>17</c:v>
                </c:pt>
                <c:pt idx="5">
                  <c:v>16</c:v>
                </c:pt>
                <c:pt idx="6">
                  <c:v>22</c:v>
                </c:pt>
                <c:pt idx="7">
                  <c:v>29</c:v>
                </c:pt>
                <c:pt idx="8">
                  <c:v>61</c:v>
                </c:pt>
                <c:pt idx="9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CF-4A1F-AE29-E1F7175D42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047137840"/>
        <c:axId val="1047138672"/>
      </c:barChart>
      <c:catAx>
        <c:axId val="10471378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layout>
            <c:manualLayout>
              <c:xMode val="edge"/>
              <c:yMode val="edge"/>
              <c:x val="0.49327080122348044"/>
              <c:y val="0.894829261456664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138672"/>
        <c:crosses val="autoZero"/>
        <c:auto val="1"/>
        <c:lblAlgn val="ctr"/>
        <c:lblOffset val="100"/>
        <c:noMultiLvlLbl val="0"/>
      </c:catAx>
      <c:valAx>
        <c:axId val="1047138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500" dirty="0">
                    <a:solidFill>
                      <a:schemeClr val="tx1"/>
                    </a:solidFill>
                  </a:rPr>
                  <a:t>LMAU</a:t>
                </a:r>
                <a:endParaRPr lang="ru-RU" sz="150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1.669133441867687E-2"/>
              <c:y val="0.4519612167061888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137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tx1"/>
                </a:solidFill>
              </a:rPr>
              <a:t>Динамика количества лояльных пользователей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LMAU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'Результат запроса'!$A$2:$A$11</c:f>
              <c:strCache>
                <c:ptCount val="10"/>
                <c:pt idx="0">
                  <c:v>07.2022</c:v>
                </c:pt>
                <c:pt idx="1">
                  <c:v>08.2022</c:v>
                </c:pt>
                <c:pt idx="2">
                  <c:v>09.2022</c:v>
                </c:pt>
                <c:pt idx="3">
                  <c:v>10.2022</c:v>
                </c:pt>
                <c:pt idx="4">
                  <c:v>11.2022</c:v>
                </c:pt>
                <c:pt idx="5">
                  <c:v>12.2022</c:v>
                </c:pt>
                <c:pt idx="6">
                  <c:v>01.2023</c:v>
                </c:pt>
                <c:pt idx="7">
                  <c:v>02.2023</c:v>
                </c:pt>
                <c:pt idx="8">
                  <c:v>03.2023</c:v>
                </c:pt>
                <c:pt idx="9">
                  <c:v>04.2023</c:v>
                </c:pt>
              </c:strCache>
            </c:str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91</c:v>
                </c:pt>
                <c:pt idx="1">
                  <c:v>170</c:v>
                </c:pt>
                <c:pt idx="2">
                  <c:v>161</c:v>
                </c:pt>
                <c:pt idx="3">
                  <c:v>156</c:v>
                </c:pt>
                <c:pt idx="4">
                  <c:v>179</c:v>
                </c:pt>
                <c:pt idx="5">
                  <c:v>176</c:v>
                </c:pt>
                <c:pt idx="6">
                  <c:v>255</c:v>
                </c:pt>
                <c:pt idx="7">
                  <c:v>311</c:v>
                </c:pt>
                <c:pt idx="8">
                  <c:v>655</c:v>
                </c:pt>
                <c:pt idx="9">
                  <c:v>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7F-4E0B-9539-8D224698E7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311137920"/>
        <c:axId val="1311140416"/>
      </c:barChart>
      <c:catAx>
        <c:axId val="1311137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layout>
            <c:manualLayout>
              <c:xMode val="edge"/>
              <c:yMode val="edge"/>
              <c:x val="0.49931535488236561"/>
              <c:y val="0.894829261456664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1140416"/>
        <c:crosses val="autoZero"/>
        <c:auto val="1"/>
        <c:lblAlgn val="ctr"/>
        <c:lblOffset val="100"/>
        <c:noMultiLvlLbl val="0"/>
      </c:catAx>
      <c:valAx>
        <c:axId val="1311140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500" dirty="0">
                    <a:solidFill>
                      <a:schemeClr val="tx1"/>
                    </a:solidFill>
                  </a:rPr>
                  <a:t>LMAU</a:t>
                </a:r>
                <a:endParaRPr lang="ru-RU" sz="150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1.669133441867687E-2"/>
              <c:y val="0.4591376574119777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1137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'Результат запроса'!$B$2:$B$101</cx:f>
        <cx:lvl ptCount="100" formatCode="Основной">
          <cx:pt idx="0">5600</cx:pt>
          <cx:pt idx="1">5000</cx:pt>
          <cx:pt idx="2">5000</cx:pt>
          <cx:pt idx="3">4800</cx:pt>
          <cx:pt idx="4">4200</cx:pt>
          <cx:pt idx="5">4200</cx:pt>
          <cx:pt idx="6">4000</cx:pt>
          <cx:pt idx="7">4000</cx:pt>
          <cx:pt idx="8">4000</cx:pt>
          <cx:pt idx="9">4000</cx:pt>
          <cx:pt idx="10">4000</cx:pt>
          <cx:pt idx="11">3200</cx:pt>
          <cx:pt idx="12">3200</cx:pt>
          <cx:pt idx="13">3000</cx:pt>
          <cx:pt idx="14">3000</cx:pt>
          <cx:pt idx="15">3000</cx:pt>
          <cx:pt idx="16">3000</cx:pt>
          <cx:pt idx="17">2800</cx:pt>
          <cx:pt idx="18">2800</cx:pt>
          <cx:pt idx="19">2800</cx:pt>
          <cx:pt idx="20">2800</cx:pt>
          <cx:pt idx="21">2800</cx:pt>
          <cx:pt idx="22">2800</cx:pt>
          <cx:pt idx="23">2800</cx:pt>
          <cx:pt idx="24">2800</cx:pt>
          <cx:pt idx="25">2800</cx:pt>
          <cx:pt idx="26">2800</cx:pt>
          <cx:pt idx="27">2800</cx:pt>
          <cx:pt idx="28">2495</cx:pt>
          <cx:pt idx="29">2495</cx:pt>
          <cx:pt idx="30">2400</cx:pt>
          <cx:pt idx="31">2400</cx:pt>
          <cx:pt idx="32">2400</cx:pt>
          <cx:pt idx="33">2400</cx:pt>
          <cx:pt idx="34">2400</cx:pt>
          <cx:pt idx="35">2100</cx:pt>
          <cx:pt idx="36">2100</cx:pt>
          <cx:pt idx="37">2100</cx:pt>
          <cx:pt idx="38">2100</cx:pt>
          <cx:pt idx="39">2000</cx:pt>
          <cx:pt idx="40">2000</cx:pt>
          <cx:pt idx="41">2000</cx:pt>
          <cx:pt idx="42">2000</cx:pt>
          <cx:pt idx="43">2000</cx:pt>
          <cx:pt idx="44">2000</cx:pt>
          <cx:pt idx="45">2000</cx:pt>
          <cx:pt idx="46">2000</cx:pt>
          <cx:pt idx="47">2000</cx:pt>
          <cx:pt idx="48">2000</cx:pt>
          <cx:pt idx="49">2000</cx:pt>
          <cx:pt idx="50">2000</cx:pt>
          <cx:pt idx="51">2000</cx:pt>
          <cx:pt idx="52">2000</cx:pt>
          <cx:pt idx="53">2000</cx:pt>
          <cx:pt idx="54">2000</cx:pt>
          <cx:pt idx="55">2000</cx:pt>
          <cx:pt idx="56">2000</cx:pt>
          <cx:pt idx="57">2000</cx:pt>
          <cx:pt idx="58">1996</cx:pt>
          <cx:pt idx="59">1866.6666666666667</cx:pt>
          <cx:pt idx="60">1800</cx:pt>
          <cx:pt idx="61">1600</cx:pt>
          <cx:pt idx="62">1600</cx:pt>
          <cx:pt idx="63">1600</cx:pt>
          <cx:pt idx="64">1600</cx:pt>
          <cx:pt idx="65">1600</cx:pt>
          <cx:pt idx="66">1600</cx:pt>
          <cx:pt idx="67">1600</cx:pt>
          <cx:pt idx="68">1600</cx:pt>
          <cx:pt idx="69">1600</cx:pt>
          <cx:pt idx="70">1600</cx:pt>
          <cx:pt idx="71">1600</cx:pt>
          <cx:pt idx="72">1600</cx:pt>
          <cx:pt idx="73">1600</cx:pt>
          <cx:pt idx="74">1500</cx:pt>
          <cx:pt idx="75">1500</cx:pt>
          <cx:pt idx="76">1500</cx:pt>
          <cx:pt idx="77">1500</cx:pt>
          <cx:pt idx="78">1497</cx:pt>
          <cx:pt idx="79">1497</cx:pt>
          <cx:pt idx="80">1400</cx:pt>
          <cx:pt idx="81">1400</cx:pt>
          <cx:pt idx="82">1400</cx:pt>
          <cx:pt idx="83">1400</cx:pt>
          <cx:pt idx="84">1400</cx:pt>
          <cx:pt idx="85">1400</cx:pt>
          <cx:pt idx="86">1400</cx:pt>
          <cx:pt idx="87">1400</cx:pt>
          <cx:pt idx="88">1400</cx:pt>
          <cx:pt idx="89">1400</cx:pt>
          <cx:pt idx="90">1400</cx:pt>
          <cx:pt idx="91">1400</cx:pt>
          <cx:pt idx="92">1400</cx:pt>
          <cx:pt idx="93">1400</cx:pt>
          <cx:pt idx="94">1400</cx:pt>
          <cx:pt idx="95">1400</cx:pt>
          <cx:pt idx="96">1400</cx:pt>
          <cx:pt idx="97">1400</cx:pt>
          <cx:pt idx="98">1400</cx:pt>
          <cx:pt idx="99">1400</cx:pt>
        </cx:lvl>
      </cx:numDim>
    </cx:data>
  </cx:chartData>
  <cx:chart>
    <cx:title pos="t" align="ctr" overlay="0">
      <cx:tx>
        <cx:txData>
          <cx:v>Распределение средних выплат за один месяц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tx1"/>
              </a:solidFill>
            </a:defRPr>
          </a:pPr>
          <a:r>
            <a:rPr lang="ru-RU" sz="2000" b="0" i="0" u="none" strike="noStrike" baseline="0" dirty="0">
              <a:solidFill>
                <a:schemeClr val="tx1"/>
              </a:solidFill>
              <a:latin typeface="Calibri" panose="020F0502020204030204"/>
            </a:rPr>
            <a:t>Распределение средних выплат за один месяц</a:t>
          </a:r>
        </a:p>
      </cx:txPr>
    </cx:title>
    <cx:plotArea>
      <cx:plotAreaRegion>
        <cx:series layoutId="clusteredColumn" uniqueId="{2B889597-EED9-4247-ABB2-D33E9856D6B2}">
          <cx:tx>
            <cx:txData>
              <cx:f>'Результат запроса'!$B$1</cx:f>
              <cx:v>ltr_month</cx:v>
            </cx:txData>
          </cx:tx>
          <cx:spPr>
            <a:solidFill>
              <a:schemeClr val="accent6">
                <a:lumMod val="75000"/>
              </a:schemeClr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200">
                    <a:solidFill>
                      <a:schemeClr val="tx1"/>
                    </a:solidFill>
                  </a:defRPr>
                </a:pPr>
                <a:endParaRPr lang="ru-RU" sz="1200" b="0" i="0" u="none" strike="noStrike" baseline="0">
                  <a:solidFill>
                    <a:schemeClr val="tx1"/>
                  </a:solidFill>
                  <a:latin typeface="Calibri" panose="020F0502020204030204"/>
                </a:endParaRPr>
              </a:p>
            </cx:txPr>
            <cx:visibility seriesName="0" categoryName="0" value="1"/>
          </cx:dataLabels>
          <cx:dataId val="0"/>
          <cx:layoutPr>
            <cx:binning intervalClosed="r">
              <cx:binSize val="1000"/>
            </cx:binning>
          </cx:layoutPr>
        </cx:series>
      </cx:plotAreaRegion>
      <cx:axis id="0">
        <cx:catScaling gapWidth="0"/>
        <cx:title>
          <cx:tx>
            <cx:txData>
              <cx:v>Размер средней выплаты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>
                  <a:solidFill>
                    <a:schemeClr val="tx1"/>
                  </a:solidFill>
                </a:defRPr>
              </a:pPr>
              <a:r>
                <a:rPr lang="ru-RU" sz="1500" b="0" i="0" u="none" strike="noStrike" baseline="0" dirty="0">
                  <a:solidFill>
                    <a:schemeClr val="tx1"/>
                  </a:solidFill>
                  <a:latin typeface="Calibri" panose="020F0502020204030204"/>
                </a:rPr>
                <a:t>Размер средней выплаты</a:t>
              </a:r>
            </a:p>
          </cx:txPr>
        </cx:title>
        <cx:tickLabels/>
        <cx:numFmt formatCode="# ##0" sourceLinked="0"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>
                <a:solidFill>
                  <a:schemeClr val="tx1"/>
                </a:solidFill>
              </a:defRPr>
            </a:pPr>
            <a:endParaRPr lang="ru-RU" sz="1200" b="0" i="0" u="none" strike="noStrike" baseline="0">
              <a:solidFill>
                <a:schemeClr val="tx1"/>
              </a:solidFill>
              <a:latin typeface="Calibri" panose="020F0502020204030204"/>
            </a:endParaRPr>
          </a:p>
        </cx:txPr>
      </cx:axis>
      <cx:axis id="1">
        <cx:valScaling/>
        <cx:title>
          <cx:tx>
            <cx:txData>
              <cx:v>Количество пользователей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>
                  <a:solidFill>
                    <a:schemeClr val="tx1"/>
                  </a:solidFill>
                </a:defRPr>
              </a:pPr>
              <a:r>
                <a:rPr lang="ru-RU" sz="1500" b="0" i="0" u="none" strike="noStrike" baseline="0" dirty="0">
                  <a:solidFill>
                    <a:schemeClr val="tx1"/>
                  </a:solidFill>
                  <a:latin typeface="Calibri" panose="020F0502020204030204"/>
                </a:rPr>
                <a:t>Количество пользователей</a:t>
              </a:r>
            </a:p>
          </cx:txPr>
        </cx:title>
        <cx:majorGridlines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>
                <a:solidFill>
                  <a:schemeClr val="tx1"/>
                </a:solidFill>
              </a:defRPr>
            </a:pPr>
            <a:endParaRPr lang="ru-RU" sz="1200" b="0" i="0" u="none" strike="noStrike" baseline="0">
              <a:solidFill>
                <a:schemeClr val="tx1"/>
              </a:solidFill>
              <a:latin typeface="Calibri" panose="020F0502020204030204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9CAF6-71C5-4A7D-B98D-0E1D29B1E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75ED54-7633-4345-83FB-8036B5A90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FD984A-EC13-4401-A8D3-E23C21FF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FD595-C51C-4489-B621-6C5AA72B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B0BDE4-9A3E-415D-9697-0894A248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80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80DF0-9755-4D63-AE60-1359679C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1C91A-8380-473A-823D-A007F9111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54B2AF-F5AE-4DEC-922D-F11DCA80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4355F7-0A05-41A7-83C1-AAA8D0C9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4475E8-52C0-4762-9ED1-6B5D311F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19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E5483-E911-47CC-832A-B786F754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3BD281-FAEC-4165-803D-D28E2FE16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7CC7F2-EAC1-4DF4-BF53-CE3F58C2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1136F-3F5A-4E33-BC86-F147BAE8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9CDF05-1695-40F0-A599-7AEE8D26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26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6FC86F-8D48-4755-A1B7-201230B8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8BF93C-AA61-4D3C-971C-25F01A7B9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C01327-8042-4823-ADBA-F51CCD450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8553F3-2A97-403D-AEC2-9E4CAD28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5D0F6E-8735-4F7E-A81F-7226EA5F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66A424-6DCA-4DEE-8CAA-BAEC770E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61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5839A-A11F-410C-876E-4D67E5E8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AE8F0A-F357-4785-8840-C39B95BDD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3EAEED-FA32-4A44-AC5E-004E23EC0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7C4874E-0018-4B07-A463-A2F06BDC2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ACB365-A500-45BC-8754-A9ED3855D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9377D3-5319-41E1-92D8-90A61F09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6D4C3D1-88D5-4B44-A226-1A8641F4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9212BF-1170-4DE4-8391-9FE61223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41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F32F2-4D9D-4A9C-B020-E70C78E5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550C8AA-A88A-4B1B-AAAA-91A8EF0F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256494-03FD-49C4-BC58-DA24A911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3C7EF5-E67A-458E-AB16-5B23941B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72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33E8B1-F8A2-4EE6-B16B-3AB8EBD1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54795A-041D-4499-B557-B3F58B4D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217789-6352-4E53-8A4C-400695F8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85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BB5F9-F685-407F-B2A8-8D02572E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9E9A4B-C126-4B75-8B29-05561CD2A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E5BBA9-E072-4CF6-BDD3-371EA1A5D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3E5B4B-9927-40AC-80D4-AE5E33B2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A4103B-5024-4AB3-8F8A-DF774BA7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F217EB-9744-4F2D-B919-151103B2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36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9403C8-37F8-4437-9E7E-2134C7E4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09B94C-99DB-4A4F-9259-0E6A8169B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D216E6-1369-46C0-9272-57F39D0B6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739ACB-DEEE-4507-974F-938C2DE2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CFA40A-C1A5-40AD-8182-E55935C1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2454EB-0716-461A-BBD0-CBDFC091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13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5B496-F147-48D5-9912-294BDB4E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F13FB7-D6EC-45A3-B41B-CAFA90BEE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0D7CC9-10E9-4983-A66D-171420A6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4D2B3B-4FFF-4207-9D5D-D8763A84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9E1E6-23F9-499D-A930-3E6E0795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9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B25C16-7E43-452F-86DD-1503AA3EF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E97900-3885-4963-A14F-EAF6D200A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22587B-8BCA-48F4-9D0E-13B1CD64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A3927-70BF-4B9D-A204-4BA710D5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092AE6-FD75-4F8F-9260-44613A9C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31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6C63D-9CA5-4C1E-A008-8F1A3DAA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446452-B506-48D0-8BCD-0674E65FE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C50CB-7684-4F3E-B8CD-207F61313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3535-AF35-4B85-A889-C87899757D8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40F9DF-FC1D-41D7-A8A5-CF018B83C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05080C-9173-4D4E-9FA4-46E792616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20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5BE1F-4CC5-4658-9E59-E5FC4D455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338" y="510111"/>
            <a:ext cx="10523484" cy="5628296"/>
          </a:xfrm>
        </p:spPr>
        <p:txBody>
          <a:bodyPr>
            <a:normAutofit/>
          </a:bodyPr>
          <a:lstStyle/>
          <a:p>
            <a:r>
              <a:rPr lang="ru-RU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Анализ мобильной игры </a:t>
            </a:r>
            <a:r>
              <a:rPr lang="en-US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Zombie Revolution</a:t>
            </a:r>
            <a:br>
              <a:rPr lang="ru-RU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br>
              <a:rPr lang="ru-RU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r>
              <a:rPr lang="ru-RU" sz="380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по данным за период с </a:t>
            </a:r>
            <a:r>
              <a:rPr lang="en-US" sz="380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01.07.2022</a:t>
            </a:r>
            <a:r>
              <a:rPr lang="ru-RU" sz="380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 по </a:t>
            </a:r>
            <a:r>
              <a:rPr lang="en-US" sz="380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30.04.2023</a:t>
            </a:r>
            <a:br>
              <a:rPr lang="ru-RU" sz="400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br>
              <a:rPr lang="ru-RU" sz="400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endParaRPr lang="ru-RU" sz="4000" dirty="0">
              <a:latin typeface="StratosSkyeng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6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242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242D34"/>
                </a:solidFill>
                <a:latin typeface="StratosSkyeng"/>
              </a:rPr>
              <a:t>Общие показатели игры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07CE9-C7EB-4C53-8C75-301B7D062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804"/>
            <a:ext cx="10515600" cy="470222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           </a:t>
            </a:r>
            <a:r>
              <a:rPr lang="ru-RU" sz="2000" dirty="0"/>
              <a:t>Количество игроков – 3 078                           Количество игровых сессий – 27 161,</a:t>
            </a:r>
          </a:p>
          <a:p>
            <a:pPr marL="0" indent="0">
              <a:buNone/>
            </a:pPr>
            <a:r>
              <a:rPr lang="ru-RU" sz="2000" dirty="0"/>
              <a:t>                                                                                            в том числе: сессий дольше 5 минут – 19 357</a:t>
            </a:r>
          </a:p>
          <a:p>
            <a:pPr marL="0" indent="0">
              <a:buNone/>
            </a:pPr>
            <a:r>
              <a:rPr lang="ru-RU" sz="2500" dirty="0"/>
              <a:t>                                  </a:t>
            </a:r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 algn="ctr">
              <a:buNone/>
            </a:pPr>
            <a:r>
              <a:rPr lang="ru-RU" sz="2000" dirty="0"/>
              <a:t>2 992 пользователя разослали 7 933 приглашений, 36% приглашенных установили игру</a:t>
            </a:r>
            <a:r>
              <a:rPr lang="ru-RU" sz="2500" dirty="0"/>
              <a:t>                                     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D8F3B753-A48A-44BE-A3BB-32EA34044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7074803"/>
              </p:ext>
            </p:extLst>
          </p:nvPr>
        </p:nvGraphicFramePr>
        <p:xfrm>
          <a:off x="654271" y="2577662"/>
          <a:ext cx="5029198" cy="3066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F6AAB423-3A72-421F-9B69-187FDA0894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5610439"/>
              </p:ext>
            </p:extLst>
          </p:nvPr>
        </p:nvGraphicFramePr>
        <p:xfrm>
          <a:off x="5867398" y="2577662"/>
          <a:ext cx="5294587" cy="3066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6328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242D34"/>
                </a:solidFill>
                <a:latin typeface="StratosSkyeng"/>
              </a:rPr>
              <a:t>Технические проблемы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BFDAFC-2B2E-4B57-9DA2-160D5E2143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b="1" dirty="0"/>
              <a:t>Проблема:</a:t>
            </a:r>
            <a:r>
              <a:rPr lang="ru-RU" dirty="0"/>
              <a:t> Не у всех игровых сессий заполнено поле с датой и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                    временем окончания сессии</a:t>
            </a:r>
          </a:p>
          <a:p>
            <a:pPr marL="0" indent="0">
              <a:buNone/>
            </a:pPr>
            <a:endParaRPr lang="ru-RU" sz="500" dirty="0"/>
          </a:p>
          <a:p>
            <a:pPr marL="0" indent="0">
              <a:buNone/>
            </a:pPr>
            <a:r>
              <a:rPr lang="ru-RU" dirty="0"/>
              <a:t>Количество проблемных записей – 3 626, или 12% всех записей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5B5E2C57-666F-42BA-A021-6130215DD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714821"/>
              </p:ext>
            </p:extLst>
          </p:nvPr>
        </p:nvGraphicFramePr>
        <p:xfrm>
          <a:off x="936735" y="3682332"/>
          <a:ext cx="10318530" cy="24079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163206">
                  <a:extLst>
                    <a:ext uri="{9D8B030D-6E8A-4147-A177-3AD203B41FA5}">
                      <a16:colId xmlns:a16="http://schemas.microsoft.com/office/drawing/2014/main" val="3800944673"/>
                    </a:ext>
                  </a:extLst>
                </a:gridCol>
                <a:gridCol w="2561896">
                  <a:extLst>
                    <a:ext uri="{9D8B030D-6E8A-4147-A177-3AD203B41FA5}">
                      <a16:colId xmlns:a16="http://schemas.microsoft.com/office/drawing/2014/main" val="2659130496"/>
                    </a:ext>
                  </a:extLst>
                </a:gridCol>
                <a:gridCol w="2593428">
                  <a:extLst>
                    <a:ext uri="{9D8B030D-6E8A-4147-A177-3AD203B41FA5}">
                      <a16:colId xmlns:a16="http://schemas.microsoft.com/office/drawing/2014/main" val="740159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chemeClr val="tx1"/>
                          </a:solidFill>
                        </a:rPr>
                        <a:t>Тип устройства</a:t>
                      </a:r>
                      <a:endParaRPr lang="ru-RU" sz="28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iOS</a:t>
                      </a:r>
                      <a:endParaRPr lang="ru-RU" sz="28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Android</a:t>
                      </a:r>
                      <a:endParaRPr lang="ru-RU" sz="28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01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Доля проблемных записей для каждого типа устройства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19%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0,75%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Процент среди всех проблемных записей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97,6%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2,4%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185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37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Маркетинговая акция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483F1B-1BAC-418A-9316-4113B2028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59" y="1825624"/>
            <a:ext cx="11098923" cy="4543645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ru-RU" dirty="0"/>
              <a:t>Увеличение количества игроков в марте 2023 года свидетельствует о позитивном эффекте проведенной акции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0AAA014-C20C-440C-8468-7CC55AF5B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002078"/>
              </p:ext>
            </p:extLst>
          </p:nvPr>
        </p:nvGraphicFramePr>
        <p:xfrm>
          <a:off x="567558" y="1825622"/>
          <a:ext cx="5528442" cy="3605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C7142EF9-14ED-4573-96C6-85812BC99D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2563899"/>
              </p:ext>
            </p:extLst>
          </p:nvPr>
        </p:nvGraphicFramePr>
        <p:xfrm>
          <a:off x="6377153" y="1825621"/>
          <a:ext cx="5289330" cy="3605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7976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динамики выручки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C2005A8-1A1C-41A0-BE2B-9F51F8435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40270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702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повышения цены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ED9104-1928-4E1D-A930-0C4C1F8AD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07566" cy="4441168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400" dirty="0"/>
              <a:t>Увеличение стоимости негативно повлияло на количество приобретаемых кристаллов, но при этом привело к росту выручки.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99B4C091-B986-4CA1-A713-81267FFD13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9094196"/>
              </p:ext>
            </p:extLst>
          </p:nvPr>
        </p:nvGraphicFramePr>
        <p:xfrm>
          <a:off x="838199" y="1825624"/>
          <a:ext cx="10515599" cy="33060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957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средних платежей по когортам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1" y="1825625"/>
            <a:ext cx="10604939" cy="449496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2200" dirty="0"/>
              <a:t>Более поздние когорты щедрее на покупки игровых предметов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4AD3976-2479-40E7-97B4-FE8C571D67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8272533"/>
              </p:ext>
            </p:extLst>
          </p:nvPr>
        </p:nvGraphicFramePr>
        <p:xfrm>
          <a:off x="748862" y="1825625"/>
          <a:ext cx="10604938" cy="3684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0297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>
                <a:solidFill>
                  <a:srgbClr val="242D34"/>
                </a:solidFill>
                <a:effectLst/>
                <a:latin typeface="StratosSkyeng"/>
              </a:rPr>
              <a:t>K-factor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509" y="1825625"/>
            <a:ext cx="10581291" cy="433080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K-factor</a:t>
            </a:r>
            <a:r>
              <a:rPr lang="ru-RU" sz="2200" dirty="0"/>
              <a:t> - </a:t>
            </a:r>
            <a:r>
              <a:rPr lang="ru-RU" sz="2200" b="0" i="0" dirty="0">
                <a:solidFill>
                  <a:srgbClr val="0F1119"/>
                </a:solidFill>
                <a:effectLst/>
              </a:rPr>
              <a:t>метрика, </a:t>
            </a:r>
            <a:r>
              <a:rPr lang="ru-RU" sz="2200" dirty="0">
                <a:solidFill>
                  <a:srgbClr val="0F1119"/>
                </a:solidFill>
              </a:rPr>
              <a:t>п</a:t>
            </a:r>
            <a:r>
              <a:rPr lang="ru-RU" sz="2200" b="0" i="0" dirty="0">
                <a:solidFill>
                  <a:srgbClr val="0F1119"/>
                </a:solidFill>
                <a:effectLst/>
              </a:rPr>
              <a:t>оказывающая “</a:t>
            </a:r>
            <a:r>
              <a:rPr lang="ru-RU" sz="2200" b="0" i="0" dirty="0" err="1">
                <a:solidFill>
                  <a:srgbClr val="0F1119"/>
                </a:solidFill>
                <a:effectLst/>
              </a:rPr>
              <a:t>вирусность</a:t>
            </a:r>
            <a:r>
              <a:rPr lang="ru-RU" sz="2200" b="0" i="0" dirty="0">
                <a:solidFill>
                  <a:srgbClr val="0F1119"/>
                </a:solidFill>
                <a:effectLst/>
              </a:rPr>
              <a:t>” игры</a:t>
            </a:r>
          </a:p>
          <a:p>
            <a:pPr marL="0" indent="0">
              <a:buNone/>
            </a:pPr>
            <a:r>
              <a:rPr lang="en-US" sz="15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   </a:t>
            </a:r>
          </a:p>
          <a:p>
            <a:pPr marL="0" indent="0">
              <a:buNone/>
            </a:pPr>
            <a:endParaRPr lang="en-US" sz="2200" b="0" i="0" kern="1200" dirty="0">
              <a:solidFill>
                <a:srgbClr val="0F1119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rgbClr val="0F1119"/>
                </a:solidFill>
              </a:rPr>
              <a:t>                                                    </a:t>
            </a:r>
            <a:r>
              <a:rPr lang="ru-RU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количество приглашенных друзей, которые </a:t>
            </a:r>
            <a:endParaRPr lang="en-US" sz="2200" b="0" i="0" kern="1200" dirty="0">
              <a:solidFill>
                <a:srgbClr val="0F1119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 </a:t>
            </a:r>
            <a:r>
              <a:rPr lang="ru-RU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в результате зарегистрировались в игре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                        K-factor</a:t>
            </a:r>
            <a:r>
              <a:rPr lang="ru-RU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 =   </a:t>
            </a:r>
            <a:r>
              <a:rPr lang="en-US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----------------------------------------------------------------------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</a:t>
            </a:r>
            <a:r>
              <a:rPr lang="ru-RU" sz="2200" b="0" i="0" kern="1200" dirty="0">
                <a:solidFill>
                  <a:srgbClr val="0F1119"/>
                </a:solidFill>
                <a:effectLst/>
                <a:latin typeface="+mn-lt"/>
                <a:ea typeface="+mn-ea"/>
                <a:cs typeface="+mn-cs"/>
              </a:rPr>
              <a:t>количество уникальных пользователей всего</a:t>
            </a:r>
          </a:p>
          <a:p>
            <a:pPr marL="0" indent="0">
              <a:spcBef>
                <a:spcPts val="0"/>
              </a:spcBef>
              <a:buNone/>
            </a:pPr>
            <a:endParaRPr lang="ru-RU" sz="2200" b="0" i="0" kern="1200" dirty="0">
              <a:solidFill>
                <a:srgbClr val="0F1119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ru-RU" sz="2200" dirty="0">
              <a:solidFill>
                <a:srgbClr val="0F1119"/>
              </a:solidFill>
            </a:endParaRPr>
          </a:p>
          <a:p>
            <a:pPr marL="0" indent="0">
              <a:buNone/>
            </a:pPr>
            <a:r>
              <a:rPr lang="en-US" sz="2200" dirty="0"/>
              <a:t>K-factor</a:t>
            </a:r>
            <a:r>
              <a:rPr lang="ru-RU" sz="2200" dirty="0"/>
              <a:t> игры – 0,92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F1119"/>
                </a:solidFill>
              </a:rPr>
              <a:t>Ожидаемый средний размер когорты с учетом </a:t>
            </a:r>
            <a:r>
              <a:rPr lang="ru-RU" sz="2200" b="0" i="0" dirty="0">
                <a:solidFill>
                  <a:srgbClr val="0F1119"/>
                </a:solidFill>
                <a:effectLst/>
              </a:rPr>
              <a:t>“</a:t>
            </a:r>
            <a:r>
              <a:rPr lang="ru-RU" sz="2200" b="0" i="0" dirty="0" err="1">
                <a:solidFill>
                  <a:srgbClr val="0F1119"/>
                </a:solidFill>
                <a:effectLst/>
              </a:rPr>
              <a:t>вирусности</a:t>
            </a:r>
            <a:r>
              <a:rPr lang="ru-RU" sz="2200" b="0" i="0" dirty="0">
                <a:solidFill>
                  <a:srgbClr val="0F1119"/>
                </a:solidFill>
                <a:effectLst/>
              </a:rPr>
              <a:t>” игры – 315 человек</a:t>
            </a:r>
            <a:endParaRPr lang="ru-RU" sz="2200" dirty="0">
              <a:solidFill>
                <a:srgbClr val="0F11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628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</a:t>
            </a:r>
            <a:r>
              <a:rPr lang="ru-RU" dirty="0">
                <a:solidFill>
                  <a:srgbClr val="242D34"/>
                </a:solidFill>
                <a:latin typeface="StratosSkyeng"/>
              </a:rPr>
              <a:t>альтернативной стратегии привлечения клиентов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456934"/>
          </a:xfrm>
          <a:ln>
            <a:noFill/>
          </a:ln>
        </p:spPr>
        <p:txBody>
          <a:bodyPr>
            <a:normAutofit/>
          </a:bodyPr>
          <a:lstStyle/>
          <a:p>
            <a:pPr marL="0" indent="0" algn="l">
              <a:buNone/>
            </a:pPr>
            <a:endParaRPr lang="ru-RU" sz="2200" b="0" i="0" dirty="0">
              <a:solidFill>
                <a:srgbClr val="0F1119"/>
              </a:solidFill>
              <a:effectLst/>
              <a:latin typeface="StratosSkyeng"/>
            </a:endParaRPr>
          </a:p>
          <a:p>
            <a:pPr marL="0" indent="0" algn="ctr">
              <a:buNone/>
            </a:pPr>
            <a:r>
              <a:rPr lang="ru-RU" sz="2200" b="0" i="0" dirty="0">
                <a:solidFill>
                  <a:srgbClr val="0F1119"/>
                </a:solidFill>
                <a:effectLst/>
                <a:latin typeface="StratosSkyeng"/>
              </a:rPr>
              <a:t>В ноябре и декабре 2022 года опробована альтернативная стратегия привлечения клиентов.</a:t>
            </a:r>
            <a:endParaRPr lang="ru-RU" sz="2200" b="1" i="0" dirty="0">
              <a:solidFill>
                <a:srgbClr val="9900CC"/>
              </a:solidFill>
              <a:effectLst/>
              <a:latin typeface="StratosSkyeng"/>
            </a:endParaRPr>
          </a:p>
          <a:p>
            <a:pPr marL="0" indent="0" algn="ctr">
              <a:buNone/>
            </a:pPr>
            <a:endParaRPr lang="ru-RU" b="1" dirty="0"/>
          </a:p>
          <a:p>
            <a:pPr marL="0" indent="0" algn="ctr">
              <a:buNone/>
            </a:pPr>
            <a:r>
              <a:rPr lang="ru-RU" sz="2200" b="1" dirty="0">
                <a:solidFill>
                  <a:srgbClr val="0F1119"/>
                </a:solidFill>
                <a:latin typeface="StratosSkyeng"/>
              </a:rPr>
              <a:t>Гипотеза</a:t>
            </a:r>
            <a:r>
              <a:rPr lang="ru-RU" sz="2200" dirty="0">
                <a:solidFill>
                  <a:srgbClr val="0F1119"/>
                </a:solidFill>
                <a:latin typeface="StratosSkyeng"/>
              </a:rPr>
              <a:t>: из-за более дорогой и таргетированной рекламы компания приобрела более “лояльных” игроков, которые больше времени посвящают игре.</a:t>
            </a:r>
          </a:p>
          <a:p>
            <a:pPr marL="0" indent="0" algn="ctr">
              <a:buNone/>
            </a:pPr>
            <a:endParaRPr lang="ru-RU" sz="2200" dirty="0">
              <a:solidFill>
                <a:srgbClr val="0F1119"/>
              </a:solidFill>
              <a:latin typeface="StratosSkyeng"/>
            </a:endParaRPr>
          </a:p>
          <a:p>
            <a:pPr marL="0" indent="0" algn="ctr">
              <a:buNone/>
            </a:pPr>
            <a:r>
              <a:rPr lang="ru-RU" sz="2200" dirty="0">
                <a:solidFill>
                  <a:srgbClr val="0F1119"/>
                </a:solidFill>
                <a:latin typeface="StratosSkyeng"/>
              </a:rPr>
              <a:t>Средняя длительность игровых сессий пользователей, присоединившихся к игре в ноябре и декабре 2022 года – 3,62 часа</a:t>
            </a:r>
          </a:p>
          <a:p>
            <a:pPr marL="0" indent="0" algn="ctr">
              <a:buNone/>
            </a:pPr>
            <a:r>
              <a:rPr lang="ru-RU" sz="2200" dirty="0">
                <a:solidFill>
                  <a:srgbClr val="0F1119"/>
                </a:solidFill>
                <a:latin typeface="StratosSkyeng"/>
              </a:rPr>
              <a:t>Средняя длительность игровых сессий остальных пользователей – 2,95 часа</a:t>
            </a:r>
          </a:p>
        </p:txBody>
      </p:sp>
    </p:spTree>
    <p:extLst>
      <p:ext uri="{BB962C8B-B14F-4D97-AF65-F5344CB8AC3E}">
        <p14:creationId xmlns:p14="http://schemas.microsoft.com/office/powerpoint/2010/main" val="3540359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242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242D34"/>
                </a:solidFill>
                <a:latin typeface="StratosSkyeng"/>
              </a:rPr>
              <a:t>Продвинутый а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нализ лояльности в игре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07CE9-C7EB-4C53-8C75-301B7D062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804"/>
            <a:ext cx="10515600" cy="4702229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Пригласил как минимум троих друзей, из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Оплатил суммарно не меньше 1000 которых как минимум один зарегистрировался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рублей за всё время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игре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500" dirty="0"/>
              <a:t>                                  </a:t>
            </a:r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 algn="ctr">
              <a:buNone/>
            </a:pPr>
            <a:r>
              <a:rPr lang="ru-RU" sz="2500" dirty="0"/>
              <a:t>                                    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219E49E3-77C6-4CF3-9E26-8EC11D98BF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5986419"/>
              </p:ext>
            </p:extLst>
          </p:nvPr>
        </p:nvGraphicFramePr>
        <p:xfrm>
          <a:off x="769882" y="2776269"/>
          <a:ext cx="5326118" cy="3569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D3BCCE9C-5A69-4812-89EE-CB60B212B3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804476"/>
              </p:ext>
            </p:extLst>
          </p:nvPr>
        </p:nvGraphicFramePr>
        <p:xfrm>
          <a:off x="6096000" y="2776269"/>
          <a:ext cx="5326115" cy="3569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6944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242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242D34"/>
                </a:solidFill>
                <a:latin typeface="StratosSkyeng"/>
              </a:rPr>
              <a:t>Продвинутый а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нализ лояльности в игре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07CE9-C7EB-4C53-8C75-301B7D062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804"/>
            <a:ext cx="10515600" cy="470222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tx1"/>
                </a:solidFill>
              </a:rPr>
              <a:t>           </a:t>
            </a:r>
            <a:r>
              <a:rPr lang="ru-RU" sz="2000" b="0" dirty="0">
                <a:solidFill>
                  <a:schemeClr val="tx1"/>
                </a:solidFill>
              </a:rPr>
              <a:t>Выполняются оба условия лояльности</a:t>
            </a:r>
            <a:r>
              <a:rPr lang="en-US" sz="2000" b="0" dirty="0">
                <a:solidFill>
                  <a:schemeClr val="tx1"/>
                </a:solidFill>
              </a:rPr>
              <a:t>                    </a:t>
            </a:r>
            <a:r>
              <a:rPr lang="ru-RU" sz="2000" b="0" dirty="0">
                <a:solidFill>
                  <a:schemeClr val="tx1"/>
                </a:solidFill>
              </a:rPr>
              <a:t>Выполняется хотя бы одно из условий</a:t>
            </a:r>
            <a:endParaRPr lang="en-US" sz="2000" b="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                           </a:t>
            </a:r>
            <a:r>
              <a:rPr lang="ru-RU" sz="2000" b="0" dirty="0">
                <a:solidFill>
                  <a:schemeClr val="tx1"/>
                </a:solidFill>
              </a:rPr>
              <a:t> </a:t>
            </a:r>
            <a:r>
              <a:rPr lang="en-US" sz="2000" b="0" dirty="0">
                <a:solidFill>
                  <a:schemeClr val="tx1"/>
                </a:solidFill>
              </a:rPr>
              <a:t>                                                                                           </a:t>
            </a:r>
            <a:r>
              <a:rPr lang="ru-RU" sz="2000" b="0" dirty="0">
                <a:solidFill>
                  <a:schemeClr val="tx1"/>
                </a:solidFill>
              </a:rPr>
              <a:t>лояльности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500" dirty="0"/>
              <a:t>                                  </a:t>
            </a:r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>
              <a:buNone/>
            </a:pPr>
            <a:endParaRPr lang="ru-RU" sz="2500" dirty="0"/>
          </a:p>
          <a:p>
            <a:pPr marL="0" indent="0" algn="ctr">
              <a:buNone/>
            </a:pPr>
            <a:r>
              <a:rPr lang="ru-RU" sz="2500" dirty="0"/>
              <a:t>                                    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FB3657C0-F883-445B-8078-57783D2666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9786834"/>
              </p:ext>
            </p:extLst>
          </p:nvPr>
        </p:nvGraphicFramePr>
        <p:xfrm>
          <a:off x="769882" y="2727434"/>
          <a:ext cx="5326117" cy="3618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E77F2533-F370-45F6-9FC3-9E138E56A3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8271497"/>
              </p:ext>
            </p:extLst>
          </p:nvPr>
        </p:nvGraphicFramePr>
        <p:xfrm>
          <a:off x="6095998" y="2727433"/>
          <a:ext cx="5326117" cy="3618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72996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242D34"/>
                </a:solidFill>
                <a:latin typeface="StratosSkyeng"/>
              </a:rPr>
              <a:t>Продвинутый а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нализ лояльности в игре</a:t>
            </a:r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7537EF-050E-4EF3-A451-36B3FDBCE78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endParaRPr lang="ru-RU" sz="100" spc="-5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ru-RU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Лояльным считается пользователь, который входит в топ-100 пользователей по средним выплатам за один месяц своей жизни.</a:t>
            </a:r>
            <a:endParaRPr lang="ru-RU" sz="1800" dirty="0"/>
          </a:p>
          <a:p>
            <a:pPr marL="0" indent="0">
              <a:spcBef>
                <a:spcPts val="600"/>
              </a:spcBef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Диаграмма 5">
                <a:extLst>
                  <a:ext uri="{FF2B5EF4-FFF2-40B4-BE49-F238E27FC236}">
                    <a16:creationId xmlns:a16="http://schemas.microsoft.com/office/drawing/2014/main" id="{ED2F247F-9B7D-4C8C-9A36-A2C24D21290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74794750"/>
                  </p:ext>
                </p:extLst>
              </p:nvPr>
            </p:nvGraphicFramePr>
            <p:xfrm>
              <a:off x="3028950" y="2727434"/>
              <a:ext cx="6134100" cy="344952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Диаграмма 5">
                <a:extLst>
                  <a:ext uri="{FF2B5EF4-FFF2-40B4-BE49-F238E27FC236}">
                    <a16:creationId xmlns:a16="http://schemas.microsoft.com/office/drawing/2014/main" id="{ED2F247F-9B7D-4C8C-9A36-A2C24D2129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8950" y="2727434"/>
                <a:ext cx="6134100" cy="34495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9197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472</Words>
  <Application>Microsoft Office PowerPoint</Application>
  <PresentationFormat>Широкоэкранный</PresentationFormat>
  <Paragraphs>153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StratosSkyeng</vt:lpstr>
      <vt:lpstr>Тема Office</vt:lpstr>
      <vt:lpstr>Анализ мобильной игры Zombie Revolution  по данным за период с 01.07.2022 по 30.04.2023  </vt:lpstr>
      <vt:lpstr>Общие показатели игры</vt:lpstr>
      <vt:lpstr>Технические проблемы</vt:lpstr>
      <vt:lpstr>Маркетинговая акция</vt:lpstr>
      <vt:lpstr>Анализ динамики выручки</vt:lpstr>
      <vt:lpstr>Анализ повышения цены</vt:lpstr>
      <vt:lpstr>Анализ средних платежей по когортам</vt:lpstr>
      <vt:lpstr>K-factor</vt:lpstr>
      <vt:lpstr>Анализ альтернативной стратегии привлечения клиентов</vt:lpstr>
      <vt:lpstr>Продвинутый анализ лояльности в игре</vt:lpstr>
      <vt:lpstr>Продвинутый анализ лояльности в игре</vt:lpstr>
      <vt:lpstr>Продвинутый анализ лояльности в игре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Vera</dc:creator>
  <cp:lastModifiedBy>Vera</cp:lastModifiedBy>
  <cp:revision>94</cp:revision>
  <dcterms:created xsi:type="dcterms:W3CDTF">2025-08-24T15:37:15Z</dcterms:created>
  <dcterms:modified xsi:type="dcterms:W3CDTF">2026-01-13T19:26:45Z</dcterms:modified>
</cp:coreProperties>
</file>